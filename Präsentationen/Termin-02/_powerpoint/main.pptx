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Hinweis: NIST SP 800-160 Vol. 2 Rev. 1 formuliert die Ziele Anticipate, Withstand, Recover, Adapt. Siehe Quellen,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Stufenbezeichnungen unterscheiden sich zwischen Folien und Skripten. Der BSI-Standard 200-4 selbst kennt Reaktiv-, Aufbau- und Standard-BCMS. Vereinheitlichung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2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Modelle und Messbarkeit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2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Warum Resilienz messen?</a:t>
            </a:r>
          </a:p>
          <a:p>
            <a:pPr lvl="0"/>
            <a:r>
              <a:rPr/>
              <a:t>Resilienz als Systemfunktion</a:t>
            </a:r>
          </a:p>
          <a:p>
            <a:pPr lvl="0"/>
            <a:r>
              <a:rPr/>
              <a:t>Resilienzmetriken in der IT und grafische Darstellung von RTO und RPO</a:t>
            </a:r>
          </a:p>
          <a:p>
            <a:pPr lvl="0"/>
            <a:r>
              <a:rPr/>
              <a:t>Modelle aus Frameworks</a:t>
            </a:r>
          </a:p>
          <a:p>
            <a:pPr lvl="0"/>
            <a:r>
              <a:rPr/>
              <a:t>Messmethoden &amp; KPIs · Resilienzreife (Maturity)</a:t>
            </a:r>
          </a:p>
          <a:p>
            <a:pPr lvl="0"/>
            <a:r>
              <a:rPr/>
              <a:t>Fallbeispiel Cloud-Ausfall</a:t>
            </a:r>
          </a:p>
          <a:p>
            <a:pPr lvl="0"/>
            <a:r>
              <a:rPr/>
              <a:t>Übung: Resilienz bewerten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Safety ≠ Security – beides beeinflusst Resilienz.</a:t>
            </a:r>
          </a:p>
          <a:p>
            <a:pPr lvl="0"/>
            <a:r>
              <a:rPr/>
              <a:t>Vier technische Prinzipien: Redundanz, Diversität, Wiederherstellbarkeit, Adaptivität.</a:t>
            </a:r>
          </a:p>
          <a:p>
            <a:pPr lvl="0"/>
            <a:r>
              <a:rPr/>
              <a:t>Resilienz = nicht Unverwundbarkeit, sondern Erholungsfähigkeit.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messen?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Management braucht Kennzahlen.</a:t>
            </a:r>
          </a:p>
          <a:p>
            <a:pPr lvl="0"/>
            <a:r>
              <a:rPr/>
              <a:t>Vergleichbarkeit zwischen Systemen und Organisationen.</a:t>
            </a:r>
          </a:p>
          <a:p>
            <a:pPr lvl="0"/>
            <a:r>
              <a:rPr/>
              <a:t>Steuerung und Priorisierung von Investitionen.</a:t>
            </a:r>
          </a:p>
          <a:p>
            <a:pPr lvl="0"/>
            <a:r>
              <a:rPr/>
              <a:t>Frühwarnindikatoren für Krisenfähigkeit.</a:t>
            </a:r>
          </a:p>
          <a:p>
            <a:pPr lvl="0"/>
            <a:r>
              <a:rPr/>
              <a:t>Nachweisfähigkeit in regulierten Domänen (KRITIS, Finanzaufsicht).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Systemfunktion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Systemleistung über Zeit → „Degradationskurve“</a:t>
            </a:r>
          </a:p>
          <a:p>
            <a:pPr lvl="0"/>
            <a:r>
              <a:rPr/>
              <a:t>Zwei Schlüsselgrößen: </a:t>
            </a:r>
            <a:r>
              <a:rPr b="1"/>
              <a:t>Tiefe des Ausfalls (Δ)</a:t>
            </a:r>
            <a:r>
              <a:rPr/>
              <a:t> und </a:t>
            </a:r>
            <a:r>
              <a:rPr b="1"/>
              <a:t>Wiederherstellungszeit (tR)</a:t>
            </a:r>
          </a:p>
          <a:p>
            <a:pPr lvl="0"/>
            <a:r>
              <a:rPr/>
              <a:t>Ziel: Minimierung von Δ und tR</a:t>
            </a:r>
          </a:p>
          <a:p>
            <a:pPr lvl="0" indent="0" marL="0">
              <a:buNone/>
            </a:pPr>
            <a:r>
              <a:rPr/>
              <a:t>Resilienz zeigt sich nicht im Normalbetrieb, sondern in der Auslenkung. Die Kurve misst das Ergebnis, nicht den Weg.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Grafische Darstellung von RTO und RPO</a:t>
            </a:r>
          </a:p>
        </p:txBody>
      </p:sp>
      <p:pic>
        <p:nvPicPr>
          <p:cNvPr descr="../../assets/resilienz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841500"/>
            <a:ext cx="9194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Resilienzmetriken in der IT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RTO und RPO sind Planungsziele, MTTR und MTBF beobachtete Messwerte.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Kennzahl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Bedeutung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Beispiel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Time Objective – max. zulässige Wiederherstellungszeit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 für Mailserver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Point Objective – max. Datenverlust zeitlich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MTTR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to Repair – durchschnittliche Reparaturzeit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MTBF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Between Failures – mittlere Zeit zwischen Fehlern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Tage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vs. Messwert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RTO / RPO:</a:t>
            </a:r>
            <a:r>
              <a:rPr/>
              <a:t> normative bzw. vertragliche Anforderung – „Wie lange dürfen wir offline sein? Wie alt dürfen die Daten sein?“</a:t>
            </a:r>
          </a:p>
          <a:p>
            <a:pPr lvl="0"/>
            <a:r>
              <a:rPr b="1"/>
              <a:t>MTTR / MTBF:</a:t>
            </a:r>
            <a:r>
              <a:rPr/>
              <a:t> beobachtete Realwelt-Performance.</a:t>
            </a:r>
          </a:p>
          <a:p>
            <a:pPr lvl="0"/>
            <a:r>
              <a:rPr/>
              <a:t>MTBF misst Zuverlässigkeit, nicht Resilienz – ist aber entscheidend für die Risikoexposition.</a:t>
            </a:r>
          </a:p>
          <a:p>
            <a:pPr lvl="0"/>
            <a:r>
              <a:rPr/>
              <a:t>Normen fordern Angemessenheit, nicht absolute Minimierung.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Modelle aus Frameworks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liefern den Ordnungsrahmen, in dem Metriken geplant und bewertet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Kernelemente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Cyber Resilience Engineering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Resist, Recover, Re-Constitute, Adapt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ICT Readiness for 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Vorbereitung, Test,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Reifegrade, Szenarien, Notfallübungen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Messgrößen und Frameworks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Messgrößen erzeugen Evidenz – Frameworks verankern sie strukturell.</a:t>
            </a:r>
          </a:p>
          <a:p>
            <a:pPr lvl="0" indent="0" marL="0">
              <a:buNone/>
            </a:pPr>
            <a:r>
              <a:rPr/>
              <a:t>ENISA ergänzt sektorale Perspektiven für KRITIS: Bedrohungsmodelle, Abhängigkeiten, Response- und Recovery-Blueprints.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Messmethoden &amp; KPIs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Technisch:</a:t>
            </a:r>
            <a:r>
              <a:rPr/>
              <a:t> Monitoring, MTTR, Backup-Tests</a:t>
            </a:r>
          </a:p>
          <a:p>
            <a:pPr lvl="0"/>
            <a:r>
              <a:rPr b="1"/>
              <a:t>Organisatorisch:</a:t>
            </a:r>
            <a:r>
              <a:rPr/>
              <a:t> BCM-KPIs, Audit-Indikatoren</a:t>
            </a:r>
          </a:p>
          <a:p>
            <a:pPr lvl="0"/>
            <a:r>
              <a:rPr b="1"/>
              <a:t>Subjektiv:</a:t>
            </a:r>
            <a:r>
              <a:rPr/>
              <a:t> Selbstbewertungen, Reifegradanalysen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Resilienzreife (Maturity)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Fünf-Stufen-Modell:</a:t>
            </a:r>
          </a:p>
          <a:p>
            <a:pPr lvl="0" indent="-457200" marL="457200">
              <a:buAutoNum type="arabicPeriod"/>
            </a:pPr>
            <a:r>
              <a:rPr/>
              <a:t>Ad hoc</a:t>
            </a:r>
          </a:p>
          <a:p>
            <a:pPr lvl="0" indent="-457200" marL="457200">
              <a:buAutoNum type="arabicPeriod"/>
            </a:pPr>
            <a:r>
              <a:rPr/>
              <a:t>Repeatable</a:t>
            </a:r>
          </a:p>
          <a:p>
            <a:pPr lvl="0" indent="-457200" marL="457200">
              <a:buAutoNum type="arabicPeriod"/>
            </a:pPr>
            <a:r>
              <a:rPr/>
              <a:t>Defined</a:t>
            </a:r>
          </a:p>
          <a:p>
            <a:pPr lvl="0" indent="-457200" marL="457200">
              <a:buAutoNum type="arabicPeriod"/>
            </a:pPr>
            <a:r>
              <a:rPr/>
              <a:t>Managed</a:t>
            </a:r>
          </a:p>
          <a:p>
            <a:pPr lvl="0" indent="-457200" marL="457200">
              <a:buAutoNum type="arabicPeriod"/>
            </a:pPr>
            <a:r>
              <a:rPr/>
              <a:t>Optimized</a:t>
            </a:r>
          </a:p>
          <a:p>
            <a:pPr lvl="0" indent="0" marL="0">
              <a:buNone/>
            </a:pPr>
            <a:r>
              <a:rPr/>
              <a:t>Reifegrad = Fähigkeit </a:t>
            </a:r>
            <a:r>
              <a:rPr i="1"/>
              <a:t>vor</a:t>
            </a:r>
            <a:r>
              <a:rPr/>
              <a:t> dem Ereignis, nicht Performance danach.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Reifegrad und Metrik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RTO-Ziel existiert, Recovery-Test nie durchgeführt → geringer Reifegrad trotz Kennzahl.</a:t>
            </a:r>
          </a:p>
          <a:p>
            <a:pPr lvl="0"/>
            <a:r>
              <a:rPr/>
              <a:t>MTTR sinkt über die Zeit → Hinweis auf lernende Organisation.</a:t>
            </a:r>
          </a:p>
          <a:p>
            <a:pPr lvl="0"/>
            <a:r>
              <a:rPr/>
              <a:t>RPO definiert und Backups getestet → Evidenz statt Policy.</a:t>
            </a:r>
          </a:p>
          <a:p>
            <a:pPr lvl="0" indent="0" marL="0">
              <a:buNone/>
            </a:pPr>
            <a:r>
              <a:rPr/>
              <a:t>„Hoher Reifegrad ohne gemessene Recovery ist Papiersicherheit; gemessene MTTR ohne organisatorischen Rahmen ist Zufallssicherheit.“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Cloud-Ausfall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AWS-Ausfall – mehrere Regionen betroffen.</a:t>
            </a:r>
          </a:p>
          <a:p>
            <a:pPr lvl="0" indent="0" marL="0">
              <a:buNone/>
            </a:pPr>
            <a:r>
              <a:rPr b="1"/>
              <a:t>Analyse:</a:t>
            </a:r>
            <a:r>
              <a:rPr/>
              <a:t> RTO = 3 h, RPO = 30 min.</a:t>
            </a:r>
          </a:p>
          <a:p>
            <a:pPr lvl="0" indent="0" marL="0">
              <a:buNone/>
            </a:pPr>
            <a:r>
              <a:rPr b="1"/>
              <a:t>Lernen:</a:t>
            </a:r>
            <a:r>
              <a:rPr/>
              <a:t> Geo-Redundanz und Failover-Strategien verkürzen RTO und RPO.</a:t>
            </a:r>
          </a:p>
          <a:p>
            <a:pPr lvl="0" indent="0" marL="0">
              <a:buNone/>
            </a:pPr>
            <a:r>
              <a:rPr/>
              <a:t>Architektur, nicht Plattform, entscheidet über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Fälle aus dem Skript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einer Kommunalverwaltung:</a:t>
            </a:r>
            <a:r>
              <a:rPr/>
              <a:t> mehrtägiger Notbetrieb, Wiederanlauf nur aus Offline-Backups – niedrige Resilienz trotz vorhandener Backups.</a:t>
            </a:r>
          </a:p>
          <a:p>
            <a:pPr lvl="0" indent="0" marL="0">
              <a:buNone/>
            </a:pPr>
            <a:r>
              <a:rPr b="1"/>
              <a:t>Cloud-Gaming-DDoS:</a:t>
            </a:r>
            <a:r>
              <a:rPr/>
              <a:t> Service verlangsamt statt ausgefallen – Graceful Degradation statt Hard-Fail.</a:t>
            </a:r>
          </a:p>
          <a:p>
            <a:pPr lvl="0" indent="0" marL="0">
              <a:buNone/>
            </a:pPr>
            <a:r>
              <a:rPr/>
              <a:t>Resilienz bewertet nicht, ob ein Ereignis eintritt, sondern wie ein System danach aussieht.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bewerten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Gruppenarbeit (30 Minuten):</a:t>
            </a:r>
          </a:p>
          <a:p>
            <a:pPr lvl="0"/>
            <a:r>
              <a:rPr/>
              <a:t>Wählt ein IT-System aus (Uni-E-Mail, Cloud-Speicher, Banking-App, Cloud-Gaming, Smart Home).</a:t>
            </a:r>
          </a:p>
          <a:p>
            <a:pPr lvl="0"/>
            <a:r>
              <a:rPr/>
              <a:t>Bewertet die Resilienz anhand von RTO, RPO, MTTR.</a:t>
            </a:r>
          </a:p>
          <a:p>
            <a:pPr lvl="0"/>
            <a:r>
              <a:rPr/>
              <a:t>Nutzt das Reifegradmodell zur Einordnung.</a:t>
            </a:r>
          </a:p>
          <a:p>
            <a:pPr lvl="0"/>
            <a:r>
              <a:rPr/>
              <a:t>Fazit: resilient, bedingt resilient oder fragil?</a:t>
            </a:r>
          </a:p>
          <a:p>
            <a:pPr lvl="0"/>
            <a:r>
              <a:rPr/>
              <a:t>Präsentiert kurz eure Ergebnisse.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wird messbar durch RTO/RPO und Frameworks.</a:t>
            </a:r>
          </a:p>
          <a:p>
            <a:pPr lvl="0"/>
            <a:r>
              <a:rPr/>
              <a:t>Maturity-Modelle helfen bei Bewertung und Verbesserung.</a:t>
            </a:r>
          </a:p>
          <a:p>
            <a:pPr lvl="0"/>
            <a:r>
              <a:rPr/>
              <a:t>Nächste Sitzung: Resilienz-Architekturen – Strategien zur Resilienzsteigerung.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Recherchieren Sie ein reales IT-Ereignis (z. B. AWS-Ausfall, Ransomware-Vorfall, Rechenzentrumsbrand).</a:t>
            </a:r>
          </a:p>
          <a:p>
            <a:pPr lvl="0" indent="0" marL="0">
              <a:buNone/>
            </a:pPr>
            <a:r>
              <a:rPr/>
              <a:t>Analysieren Sie, wie schnell der Dienst wiederhergestellt wurde (RT) und welche Daten gegebenenfalls verloren gingen (RP).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 und Messbarkeit der Resilienz</dc:title>
  <dc:creator>Prof. Dr. Dirk Loomans</dc:creator>
  <cp:keywords/>
  <dcterms:created xsi:type="dcterms:W3CDTF">2026-09-29T09:05:20Z</dcterms:created>
  <dcterms:modified xsi:type="dcterms:W3CDTF">2026-09-29T09:05:20Z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2</vt:lpwstr>
  </property>
  <property fmtid="{D5CDD505-2E9C-101B-9397-08002B2CF9AE}" pid="14" name="toc-title">
    <vt:lpwstr>Inhaltsverzeichnis</vt:lpwstr>
  </property>
</Properties>
</file>