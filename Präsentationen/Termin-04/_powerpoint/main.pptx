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presProps" Target="presProps.xml" /><Relationship Id="rId20" Type="http://schemas.openxmlformats.org/officeDocument/2006/relationships/tableStyles" Target="tableStyles.xml" /><Relationship Id="rId18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3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3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4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Cyber-Bedrohungen und Resilienzstrategien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4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&amp; Anschluss</a:t>
            </a:r>
          </a:p>
          <a:p>
            <a:pPr lvl="0"/>
            <a:r>
              <a:rPr/>
              <a:t>Warum Bedrohungs-Mapping essenziell ist</a:t>
            </a:r>
          </a:p>
          <a:p>
            <a:pPr lvl="0"/>
            <a:r>
              <a:rPr/>
              <a:t>Bedrohung 1–6: Ransomware, DDoS, Cloud-Ausfall, Identity-Ausfall, Human Failure, Supply Chain</a:t>
            </a:r>
          </a:p>
          <a:p>
            <a:pPr lvl="0"/>
            <a:r>
              <a:rPr/>
              <a:t>Framework-Abgleich: Threat → Resilience Capability</a:t>
            </a:r>
          </a:p>
          <a:p>
            <a:pPr lvl="0"/>
            <a:r>
              <a:rPr/>
              <a:t>Übung (Gruppenarbeit)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&amp; Anschluss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Letzte Sitzung: Resilienz entsteht im Design.</a:t>
            </a:r>
          </a:p>
          <a:p>
            <a:pPr lvl="0"/>
            <a:r>
              <a:rPr/>
              <a:t>Vier Prinzipien → Redundanz, Diversität, Wiederherstellbarkeit, Adaptivität.</a:t>
            </a:r>
          </a:p>
          <a:p>
            <a:pPr lvl="0"/>
            <a:r>
              <a:rPr/>
              <a:t>Heute: bedrohungsgetriebener Blick.</a:t>
            </a:r>
          </a:p>
          <a:p>
            <a:pPr lvl="0"/>
            <a:r>
              <a:rPr/>
              <a:t>Ziel: Mapping von Attacken auf Resilienzmechanismen.</a:t>
            </a:r>
          </a:p>
        </p:txBody>
      </p:sp>
      <p:pic>
        <p:nvPicPr>
          <p:cNvPr descr="assets/schloss-binaer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1841500"/>
            <a:ext cx="5181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Bedrohungs-Mapping essenziell ist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= Widerstand + Wiederherstellung gegen konkrete Ereignisse.</a:t>
            </a:r>
          </a:p>
          <a:p>
            <a:pPr lvl="0"/>
            <a:r>
              <a:rPr/>
              <a:t>Ohne Threat-Bezug → Maßnahmen im Leeren.</a:t>
            </a:r>
          </a:p>
          <a:p>
            <a:pPr lvl="0"/>
            <a:r>
              <a:rPr/>
              <a:t>Mapping ermöglicht Priorisierung &amp; Budgetfokus.</a:t>
            </a:r>
          </a:p>
          <a:p>
            <a:pPr lvl="0"/>
            <a:r>
              <a:rPr/>
              <a:t>Grundlage für Risk-based Resilience Engineering.</a:t>
            </a:r>
          </a:p>
          <a:p>
            <a:pPr lvl="0" indent="0" marL="0">
              <a:buNone/>
            </a:pPr>
            <a:r>
              <a:rPr/>
              <a:t>Resilienz ist relational: Ein System ist resilient </a:t>
            </a:r>
            <a:r>
              <a:rPr i="1"/>
              <a:t>gegen etwas</a:t>
            </a:r>
            <a:r>
              <a:rPr/>
              <a:t>.</a:t>
            </a:r>
          </a:p>
        </p:txBody>
      </p:sp>
      <p:pic>
        <p:nvPicPr>
          <p:cNvPr descr="assets/threat-ven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75400" y="1841500"/>
            <a:ext cx="5257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1: Ransomware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Verschlüsselung / Sabotage von Primärsystemen und Backups</a:t>
            </a:r>
          </a:p>
          <a:p>
            <a:pPr lvl="0" indent="0" marL="0">
              <a:buNone/>
            </a:pPr>
            <a:r>
              <a:rPr b="1"/>
              <a:t>Resilienzstrategien (nicht Prävention!)</a:t>
            </a:r>
          </a:p>
          <a:p>
            <a:pPr lvl="0"/>
            <a:r>
              <a:rPr/>
              <a:t>Immutable / Offline-Backups</a:t>
            </a:r>
          </a:p>
          <a:p>
            <a:pPr lvl="0"/>
            <a:r>
              <a:rPr/>
              <a:t>Netzwerk- und Domain-Segmentierung</a:t>
            </a:r>
          </a:p>
          <a:p>
            <a:pPr lvl="0"/>
            <a:r>
              <a:rPr/>
              <a:t>Gold-Image / Clean-Room-Recovery</a:t>
            </a:r>
          </a:p>
          <a:p>
            <a:pPr lvl="0"/>
            <a:r>
              <a:rPr/>
              <a:t>Recovery-Tests statt Papierpläne</a:t>
            </a:r>
          </a:p>
          <a:p>
            <a:pPr lvl="0" indent="0" marL="0">
              <a:buNone/>
            </a:pPr>
            <a:r>
              <a:rPr b="1"/>
              <a:t>Zielgröße:</a:t>
            </a:r>
            <a:r>
              <a:rPr/>
              <a:t> RTO ↓ / RPO ↓ trotz kompromittierter Produktion</a:t>
            </a:r>
          </a:p>
        </p:txBody>
      </p:sp>
      <p:pic>
        <p:nvPicPr>
          <p:cNvPr descr="assets/ransomw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2: DDoS / Lastangriffe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Service wird durch Überlast unbenutzbar, obwohl technisch intakt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Anycast-CDN / Traffic-Scrubbing</a:t>
            </a:r>
          </a:p>
          <a:p>
            <a:pPr lvl="0"/>
            <a:r>
              <a:rPr/>
              <a:t>Auto-Scaling &amp; Rate-Limiting</a:t>
            </a:r>
          </a:p>
          <a:p>
            <a:pPr lvl="0"/>
            <a:r>
              <a:rPr/>
              <a:t>Graceful Degradation (nicht alles oder nichts)</a:t>
            </a:r>
          </a:p>
          <a:p>
            <a:pPr lvl="0"/>
            <a:r>
              <a:rPr/>
              <a:t>API-Quota / Circuit Breaker</a:t>
            </a:r>
          </a:p>
          <a:p>
            <a:pPr lvl="0" indent="0" marL="0">
              <a:buNone/>
            </a:pPr>
            <a:r>
              <a:rPr b="1"/>
              <a:t>Ziel:</a:t>
            </a:r>
            <a:r>
              <a:rPr/>
              <a:t> Dienst bleibt nutzbar — nicht perfekt, aber funktional</a:t>
            </a:r>
          </a:p>
        </p:txBody>
      </p:sp>
      <p:pic>
        <p:nvPicPr>
          <p:cNvPr descr="assets/ddo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565400"/>
            <a:ext cx="56134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3: Cloud-Provider-Ausfall / Region Down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Redundanz auf Anbieter-Level bricht weg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Multi-AZ-Deployment</a:t>
            </a:r>
          </a:p>
          <a:p>
            <a:pPr lvl="0"/>
            <a:r>
              <a:rPr/>
              <a:t>Cross-Region-Failover</a:t>
            </a:r>
          </a:p>
          <a:p>
            <a:pPr lvl="0"/>
            <a:r>
              <a:rPr/>
              <a:t>Multi-Cloud für kritische Workloads</a:t>
            </a:r>
          </a:p>
          <a:p>
            <a:pPr lvl="0"/>
            <a:r>
              <a:rPr/>
              <a:t>Lokaler Fallback für Mindestfunktion</a:t>
            </a:r>
          </a:p>
          <a:p>
            <a:pPr lvl="0" indent="0" marL="0">
              <a:buNone/>
            </a:pPr>
            <a:r>
              <a:rPr b="1"/>
              <a:t>Lehrsatz:</a:t>
            </a:r>
            <a:r>
              <a:rPr/>
              <a:t> Provider ≠ Resilienz — Architektur entscheidet</a:t>
            </a:r>
          </a:p>
        </p:txBody>
      </p:sp>
      <p:pic>
        <p:nvPicPr>
          <p:cNvPr descr="assets/cloud-region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96100" y="1841500"/>
            <a:ext cx="42037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4: Identity-Ausfall (IdP als SPOF)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Systeme technisch verfügbar — aber nicht benutzbar (Lockout)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Break-Glass-Accounts (lokal &amp; offline)</a:t>
            </a:r>
          </a:p>
          <a:p>
            <a:pPr lvl="0"/>
            <a:r>
              <a:rPr/>
              <a:t>Zweiter unabhängiger IdP / Fallback-Authentisierung</a:t>
            </a:r>
          </a:p>
          <a:p>
            <a:pPr lvl="0"/>
            <a:r>
              <a:rPr/>
              <a:t>Notfallzugang ohne Cloud-Abhängigkeit</a:t>
            </a:r>
          </a:p>
          <a:p>
            <a:pPr lvl="0"/>
            <a:r>
              <a:rPr/>
              <a:t>Minimierung globaler Koppelstellen</a:t>
            </a:r>
          </a:p>
          <a:p>
            <a:pPr lvl="0" indent="0" marL="0">
              <a:buNone/>
            </a:pPr>
            <a:r>
              <a:rPr b="1"/>
              <a:t>Kernaussage:</a:t>
            </a:r>
            <a:r>
              <a:rPr/>
              <a:t> Identity ist oft der versteckte Single Point of Failure</a:t>
            </a:r>
          </a:p>
        </p:txBody>
      </p:sp>
      <p:pic>
        <p:nvPicPr>
          <p:cNvPr descr="assets/identity-sa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603500"/>
            <a:ext cx="5613400" cy="271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5: Human Failure / Fehlkonfiguration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Fehler propagieren systemisch (IaC, CI/CD, Admin-Fehler)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Vier-Augen- / SoD-Kontrollen</a:t>
            </a:r>
          </a:p>
          <a:p>
            <a:pPr lvl="0"/>
            <a:r>
              <a:rPr/>
              <a:t>Staging / Canary Deployment / Feature Flags</a:t>
            </a:r>
          </a:p>
          <a:p>
            <a:pPr lvl="0"/>
            <a:r>
              <a:rPr/>
              <a:t>Rollback- / Snapshot-Fähigkeit</a:t>
            </a:r>
          </a:p>
          <a:p>
            <a:pPr lvl="0"/>
            <a:r>
              <a:rPr/>
              <a:t>Auditierbarkeit &amp; Post-Mortem-Kultur</a:t>
            </a:r>
          </a:p>
          <a:p>
            <a:pPr lvl="0" indent="0" marL="0">
              <a:buNone/>
            </a:pPr>
            <a:r>
              <a:rPr b="1"/>
              <a:t>Prinzipbezug:</a:t>
            </a:r>
            <a:r>
              <a:rPr/>
              <a:t> Diversität &amp; Wiederherstellbarkeit &gt; Prävention</a:t>
            </a:r>
          </a:p>
        </p:txBody>
      </p:sp>
      <p:pic>
        <p:nvPicPr>
          <p:cNvPr descr="assets/human-failure-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1854200"/>
            <a:ext cx="5613400" cy="421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6: Supply-Chain-Angriff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Kompromittierung kommt über Dritte in die eigene Umgebung (SolarWinds, Kaseya)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Lieferantendiversität / Source of Truth trennen</a:t>
            </a:r>
          </a:p>
          <a:p>
            <a:pPr lvl="0"/>
            <a:r>
              <a:rPr/>
              <a:t>Zero Trust for Dependencies</a:t>
            </a:r>
          </a:p>
          <a:p>
            <a:pPr lvl="0"/>
            <a:r>
              <a:rPr/>
              <a:t>Offline-Verifikation / kein Auto-Push bei kritischen Komponenten</a:t>
            </a:r>
          </a:p>
          <a:p>
            <a:pPr lvl="0"/>
            <a:r>
              <a:rPr/>
              <a:t>Recovery unabhängig vom kompromittierten Dependency-State</a:t>
            </a:r>
          </a:p>
          <a:p>
            <a:pPr lvl="0" indent="0" marL="0">
              <a:buNone/>
            </a:pPr>
            <a:r>
              <a:rPr b="1"/>
              <a:t>Lehrsatz:</a:t>
            </a:r>
            <a:r>
              <a:rPr/>
              <a:t> Resilienz ist hier das Sicherheitsnetz nach dem Vertrauensbruch</a:t>
            </a:r>
          </a:p>
        </p:txBody>
      </p:sp>
      <p:pic>
        <p:nvPicPr>
          <p:cNvPr descr="assets/supply-ch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324100"/>
            <a:ext cx="5613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Framework-Abgleich: Threat → Resilience Capability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Bedrohung entscheidet nicht über das Tool, sondern über das Prinzip.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Bedrohung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Resilienzprinzip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Normativer Bezug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Ransomware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Recovery / Diversität (immutable, offline)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ISO/IEC 27031 · BSI 200-4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DDoS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Adaptivität (Autoscale, Graceful Degradation)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ENISA DDoS Guidance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Cloud-Ausfall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Redundanz (Multi-AZ/Region)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SP 800-160 Vol. 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Identity-Ausfall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Diversität / Break-Glass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CSF · Zero Trust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Failure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Wiederherstellbarkeit / SoD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BSI 200-4 · IT-Grundschutz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Supply Chain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Diversität / Zero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ENISA Supply Chain Guidance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das Mapping zeigt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Verschiedene Bedrohungen adressieren dasselbe Prinzip (Ransomware und Human Failure → Recovery).</a:t>
            </a:r>
          </a:p>
          <a:p>
            <a:pPr lvl="0"/>
            <a:r>
              <a:rPr/>
              <a:t>Dasselbe Prinzip wirkt gegen verschiedene Bedrohungen (Diversität gegen Identity-Ausfall und Supply Chain).</a:t>
            </a:r>
          </a:p>
          <a:p>
            <a:pPr lvl="0"/>
            <a:r>
              <a:rPr/>
              <a:t>Nicht die Bedrohung wird kontrolliert, sondern die Fähigkeit, ihren Effekt zu absorbieren.</a:t>
            </a:r>
          </a:p>
        </p:txBody>
      </p:sp>
      <p:pic>
        <p:nvPicPr>
          <p:cNvPr descr="../../assets/threat-mapp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1955800"/>
            <a:ext cx="56134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 (Gruppenarbeit)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Wählt eine Bedrohung (Ransomware, DDoS, Cloud-Ausfall, Identity-Ausfall, Human Failure, Supply Chain). 15–20 Minuten:</a:t>
            </a:r>
          </a:p>
          <a:p>
            <a:pPr lvl="0" indent="-457200" marL="457200">
              <a:buAutoNum type="arabicPeriod"/>
            </a:pPr>
            <a:r>
              <a:rPr/>
              <a:t>Wirkmechanismus beschreiben (1–2 Sätze)</a:t>
            </a:r>
          </a:p>
          <a:p>
            <a:pPr lvl="0" indent="-457200" marL="457200">
              <a:buAutoNum type="arabicPeriod"/>
            </a:pPr>
            <a:r>
              <a:rPr/>
              <a:t>Mindestens zwei Resilienzprinzipien zuordnen</a:t>
            </a:r>
          </a:p>
          <a:p>
            <a:pPr lvl="0" indent="-457200" marL="457200">
              <a:buAutoNum type="arabicPeriod"/>
            </a:pPr>
            <a:r>
              <a:rPr/>
              <a:t>Jeweils eine konkrete technische Maßnahme nennen</a:t>
            </a:r>
          </a:p>
          <a:p>
            <a:pPr lvl="0" indent="-457200" marL="457200">
              <a:buAutoNum type="arabicPeriod"/>
            </a:pPr>
            <a:r>
              <a:rPr/>
              <a:t>Fazit: Wodurch wird das System praktisch resilient?</a:t>
            </a:r>
          </a:p>
          <a:p>
            <a:pPr lvl="0" indent="0" marL="0">
              <a:buNone/>
            </a:pPr>
            <a:r>
              <a:rPr/>
              <a:t>Output: eine Folie pro Gruppe, max. sechs Bulletpoints. Bewertet wird die Schärfe der Zuordnung.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bewertet sich immer gegen eine Bedrohung.</a:t>
            </a:r>
          </a:p>
          <a:p>
            <a:pPr lvl="0"/>
            <a:r>
              <a:rPr/>
              <a:t>Threat-→-Capability-Mapping schafft Architekturdisziplin.</a:t>
            </a:r>
          </a:p>
          <a:p>
            <a:pPr lvl="0"/>
            <a:r>
              <a:rPr/>
              <a:t>Dieselben vier Prinzipien greifen über Bedrohungsklassen hinweg.</a:t>
            </a:r>
          </a:p>
          <a:p>
            <a:pPr lvl="0"/>
            <a:r>
              <a:rPr/>
              <a:t>Hybrid erhöht sowohl Angriffsfläche als auch Gegenstrategieraum.</a:t>
            </a:r>
          </a:p>
          <a:p>
            <a:pPr lvl="0" indent="0" marL="0">
              <a:buNone/>
            </a:pPr>
            <a:r>
              <a:rPr b="1"/>
              <a:t>Nächste Sitzung (5):</a:t>
            </a:r>
            <a:r>
              <a:rPr/>
              <a:t> Resilienz als Organisationsfähigkeit — Rollen, Prozesse, Übungen, Governance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Cyber-Bedrohungen und Resilienzstrategien</dc:title>
  <dc:creator>Prof. Dr. Dirk Loomans</dc:creator>
  <cp:keywords/>
  <dcterms:created xsi:type="dcterms:W3CDTF">2026-10-04T13:25:32Z</dcterms:created>
  <dcterms:modified xsi:type="dcterms:W3CDTF">2026-10-04T13:25:32Z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4</vt:lpwstr>
  </property>
  <property fmtid="{D5CDD505-2E9C-101B-9397-08002B2CF9AE}" pid="14" name="toc-title">
    <vt:lpwstr>Inhaltsverzeichnis</vt:lpwstr>
  </property>
</Properties>
</file>