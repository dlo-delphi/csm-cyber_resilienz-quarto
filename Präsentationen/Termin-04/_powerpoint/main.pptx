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presProps" Target="presProps.xml" /><Relationship Id="rId20" Type="http://schemas.openxmlformats.org/officeDocument/2006/relationships/tableStyles" Target="tableStyles.xml" /><Relationship Id="rId1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4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Anschluss</a:t>
            </a:r>
          </a:p>
          <a:p>
            <a:pPr lvl="0"/>
            <a:r>
              <a:rPr/>
              <a:t>Warum Bedrohungs-Mapping essenziell ist</a:t>
            </a:r>
          </a:p>
          <a:p>
            <a:pPr lvl="0"/>
            <a:r>
              <a:rPr/>
              <a:t>Bedrohung 1–6: Ransomware, DDoS, Cloud-Ausfall, Identity-Ausfall, Human Failure, Supply Chain</a:t>
            </a:r>
          </a:p>
          <a:p>
            <a:pPr lvl="0"/>
            <a:r>
              <a:rPr/>
              <a:t>Framework-Abgleich: Threat → Resilience Capability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Anschluss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Letzte Sitzung: Resilienz entsteht im Design.</a:t>
            </a:r>
          </a:p>
          <a:p>
            <a:pPr lvl="0"/>
            <a:r>
              <a:rPr/>
              <a:t>Vier Prinzipien → Redundanz, Diversität, Wiederherstellbarkeit, Adaptivität.</a:t>
            </a:r>
          </a:p>
          <a:p>
            <a:pPr lvl="0"/>
            <a:r>
              <a:rPr/>
              <a:t>Heute: bedrohungsgetriebener Blick.</a:t>
            </a:r>
          </a:p>
          <a:p>
            <a:pPr lvl="0"/>
            <a:r>
              <a:rPr/>
              <a:t>Ziel: Mapping von Attacken auf Resilienzmechanismen.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Bedrohungs-Mapping essenziell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 + Wiederherstellung gegen konkrete Ereignisse.</a:t>
            </a:r>
          </a:p>
          <a:p>
            <a:pPr lvl="0"/>
            <a:r>
              <a:rPr/>
              <a:t>Ohne Threat-Bezug → Maßnahmen im Leeren.</a:t>
            </a:r>
          </a:p>
          <a:p>
            <a:pPr lvl="0"/>
            <a:r>
              <a:rPr/>
              <a:t>Mapping ermöglicht Priorisierung &amp; Budgetfokus.</a:t>
            </a:r>
          </a:p>
          <a:p>
            <a:pPr lvl="0"/>
            <a:r>
              <a:rPr/>
              <a:t>Grundlage für Risk-based Resilience Engineering.</a:t>
            </a:r>
          </a:p>
          <a:p>
            <a:pPr lvl="0" indent="0" marL="0">
              <a:buNone/>
            </a:pPr>
            <a:r>
              <a:rPr/>
              <a:t>Resilienz ist relational: Ein System ist resilient </a:t>
            </a:r>
            <a:r>
              <a:rPr i="1"/>
              <a:t>gegen etwas</a:t>
            </a:r>
            <a:r>
              <a:rPr/>
              <a:t>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 / Sabotage von Primärsystemen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 / Offline-Backups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 / 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↓ / RPO ↓ trotz kompromittierter Produktion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/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Service wird durch Überlast unbenutzbar, obwohl technisch intakt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/ Traffic-Scrubbing</a:t>
            </a:r>
          </a:p>
          <a:p>
            <a:pPr lvl="0"/>
            <a:r>
              <a:rPr/>
              <a:t>Auto-Scaling &amp; Rate-Limiting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API-Quota /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— nicht perfekt, aber funktional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Cloud-Provider-Ausfall / Region Down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Redundanz auf Anbieter-Level bricht weg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Cross-Region-Failover</a:t>
            </a:r>
          </a:p>
          <a:p>
            <a:pPr lvl="0"/>
            <a:r>
              <a:rPr/>
              <a:t>Multi-Cloud für kritische Workloads</a:t>
            </a:r>
          </a:p>
          <a:p>
            <a:pPr lvl="0"/>
            <a:r>
              <a:rPr/>
              <a:t>Lokaler Fallback für Mindestfunktion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— Architektur entscheidet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 (IdP als SPOF)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technisch verfügbar — aber nicht benutzbar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 (lokal &amp; offline)</a:t>
            </a:r>
          </a:p>
          <a:p>
            <a:pPr lvl="0"/>
            <a:r>
              <a:rPr/>
              <a:t>Zweiter unabhängiger IdP /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/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Fehler propagieren systemisch (IaC, CI/CD, Admin-Fehler)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 / SoD-Kontrollen</a:t>
            </a:r>
          </a:p>
          <a:p>
            <a:pPr lvl="0"/>
            <a:r>
              <a:rPr/>
              <a:t>Staging / Canary Deployment / Feature Flags</a:t>
            </a:r>
          </a:p>
          <a:p>
            <a:pPr lvl="0"/>
            <a:r>
              <a:rPr/>
              <a:t>Rollback- / Snapshot-Fähigkeit</a:t>
            </a:r>
          </a:p>
          <a:p>
            <a:pPr lvl="0"/>
            <a:r>
              <a:rPr/>
              <a:t>Auditierbarkeit &amp; Post-Mortem-Kultur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Diversität &amp; Wiederherstellbarkeit &gt; Prävention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Kompromittierung kommt über Dritte in die eigene Umgebung (SolarWinds, Kaseya)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 / Source of Truth trennen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Offline-Verifikation / kein Auto-Push bei kritischen Komponenten</a:t>
            </a:r>
          </a:p>
          <a:p>
            <a:pPr lvl="0"/>
            <a:r>
              <a:rPr/>
              <a:t>Recovery unabhängig vom kompromittierten Dependency-State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hier das Sicherheitsnetz nach dem Vertrauensbruch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/ Diversität (immutable, offline)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 (Autoscale, Graceful Degradation)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 (Multi-AZ/Region)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 / SoD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Zero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dasselbe Prinzip (Ransomware und Human Failure → Recovery).</a:t>
            </a:r>
          </a:p>
          <a:p>
            <a:pPr lvl="0"/>
            <a:r>
              <a:rPr/>
              <a:t>Dasselbe Prinzip wirkt gegen verschiedene Bedrohungen (Diversität gegen Identity-Ausfall und Supply Chain).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Wählt eine Bedrohung (Ransomware, DDoS, Cloud-Ausfall, Identity-Ausfall, Human Failure, Supply Chain). 15–20 Minuten:</a:t>
            </a:r>
          </a:p>
          <a:p>
            <a:pPr lvl="0" indent="-457200" marL="457200">
              <a:buAutoNum type="arabicPeriod"/>
            </a:pPr>
            <a:r>
              <a:rPr/>
              <a:t>Wirkmechanismus beschreiben (1–2 Sätze)</a:t>
            </a:r>
          </a:p>
          <a:p>
            <a:pPr lvl="0" indent="-457200" marL="457200">
              <a:buAutoNum type="arabicPeriod"/>
            </a:pPr>
            <a:r>
              <a:rPr/>
              <a:t>Mindestens zwei Resilienzprinzipien zuordnen</a:t>
            </a:r>
          </a:p>
          <a:p>
            <a:pPr lvl="0" indent="-457200" marL="457200">
              <a:buAutoNum type="arabicPeriod"/>
            </a:pPr>
            <a:r>
              <a:rPr/>
              <a:t>Jeweils eine konkrete technische Maßnahme nennen</a:t>
            </a:r>
          </a:p>
          <a:p>
            <a:pPr lvl="0" indent="-457200" marL="457200">
              <a:buAutoNum type="arabicPeriod"/>
            </a:pPr>
            <a:r>
              <a:rPr/>
              <a:t>Fazit: Wodurch wird das System praktisch resilient?</a:t>
            </a:r>
          </a:p>
          <a:p>
            <a:pPr lvl="0" indent="0" marL="0">
              <a:buNone/>
            </a:pPr>
            <a:r>
              <a:rPr/>
              <a:t>Output: eine Folie pro Gruppe, max. sechs Bulletpoints. Bewertet wird die Schärfe der Zuordnung.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bewertet sich immer gegen eine Bedrohung.</a:t>
            </a:r>
          </a:p>
          <a:p>
            <a:pPr lvl="0"/>
            <a:r>
              <a:rPr/>
              <a:t>Threat-→-Capability-Mapping schafft Architekturdisziplin.</a:t>
            </a:r>
          </a:p>
          <a:p>
            <a:pPr lvl="0"/>
            <a:r>
              <a:rPr/>
              <a:t>Dieselben vier Prinzipien greifen über Bedrohungsklassen hinweg.</a:t>
            </a:r>
          </a:p>
          <a:p>
            <a:pPr lvl="0"/>
            <a:r>
              <a:rPr/>
              <a:t>Hybrid erhöht sowohl Angriffsfläche als auch Gegenstrategieraum.</a:t>
            </a:r>
          </a:p>
          <a:p>
            <a:pPr lvl="0" indent="0" marL="0">
              <a:buNone/>
            </a:pPr>
            <a:r>
              <a:rPr b="1"/>
              <a:t>Nächste Sitzung (5):</a:t>
            </a:r>
            <a:r>
              <a:rPr/>
              <a:t> Resilienz als Organisationsfähigkeit — Rollen, Prozesse, Übungen, Governance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2026-09-29T09:05:29Z</dcterms:created>
  <dcterms:modified xsi:type="dcterms:W3CDTF">2026-09-29T09:05:29Z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