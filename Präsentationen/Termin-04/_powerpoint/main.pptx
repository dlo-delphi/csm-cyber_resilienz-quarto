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notesMaster" Target="notesMasters/notesMaster1.xml" /><Relationship Id="rId30" Type="http://schemas.openxmlformats.org/officeDocument/2006/relationships/presProps" Target="presProps.xml" /><Relationship Id="rId33" Type="http://schemas.openxmlformats.org/officeDocument/2006/relationships/tableStyles" Target="tableStyles.xml" /><Relationship Id="rId3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Hausaufgabe aufgreifen: Welcher SPOF aus eurem System wäre für einen Angreifer am attraktivsten? Zwei bis drei Antworten sammeln – meist kommt die Identität oder ein zentraler Dienstleister. Genau das sind heute zwei der sechs Bedrohungsklassen. Überleitung: Ein Angreifer sucht nicht den Zufall, sondern den schwächsten Punkt.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ersten drei Lernziele stammen aus dem Skript. Die letzten beiden sind Ergänzungen, die aus den heutigen Fällen folgen: KDZ/KGRZ 2026, Count+Care 2022 und die Hochschule Mainz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Nur die veröffentlichten Angaben der Hochschule (Meldungen vom 24.11.2025 und 17.02.2026) stehen auf der Folie. Alles Weitere mündlich. Fragen an die Studierenden: Wie habt ihr den Ausfall erlebt? Was lief weiter (Präsenzlehre, Information über Ersatzkanäle), was nicht (E-Mail, Geräte, WLAN)? Pointe: Die Hochschule ist nicht „nicht resilient“ – sie hat Kernfunktionen gehalten und systematisch neu aufgebaut. Genau das ist heute das Thema: Resilienz gegen eine konkrete Bedrohung.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Bezug NIST SP 800-160 Vol. 2: Resilienzfähigkeiten werden funktional an Bedrohungsszenarien gekoppelt. Das Venn-Diagramm zeigt die klassische Sicht der Security: Angriff gelingt dort, wo Anfälligkeit, Zugang und Fähigkeit zusammenkommen. Resilienz fragt einen Schritt weiter: Was passiert, wenn er gelingt?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Sie konvergieren im Effekt: Verlust von Verfügbarkeit, Nutzbarkeit, Steuerbarkeit oder Integrität. Wichtig: Nicht alle Klassen sind Angriffe. Human Failure und viele Provider-Ausfälle sind Fehler – für das Resilienzdesign ist das egal, es zählt der Effekt. Ab jetzt: zu jeder Klasse Wirkprinzip, Strategien und ein realer 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Prinzipbezug: Wiederherstellbarkeit ist hier die primäre Verteidigungslinie. Clean-Room-Recovery heißt: nicht auf kompromittierten Systemen reparieren, sondern in einer sauberen Umgebung neu aufbauen und erst dann zurückspielen. Rückbezug Maersk aus Sitzung 1: Ohne die eine saubere Kopie hätte es keinen Neustart gegeben.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Angaben aus der Meldung der Hochschule vom 17.02.2026. Drei Lehren: Erstens, Recovery nach Ransomware heißt Neuaufbau – man vertraut keinem Gerät und keinem Passwort mehr. Zweitens, Priorisierung ist eine Managemententscheidung: Was ist systemrelevant? (Zahlungsfähigkeit, Personal, Prüfungsbetrieb.) Drittens, das RTO für „alles wieder normal“ liegt bei Monaten – das RTO für Kernfunktionen deutlich darunter. Resilienz misst sich an den Kernfunktionen. Details zu Ursache und Ablauf bewusst nur mündlich und nur, soweit öffentlich.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Prinzipbezug: Adaptivität. Rückbezug Sitzung 2: Cloud-Gaming-DDoS – langsamer statt ausgefallen. Der folgende Fall zeigt eine Wendung: Nicht der eigene Server wird getroffen, sondern ein Dienst, von dem alle abhängen.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Doppelte Lehre. Erstens DDoS: Adaptivität und Scrubbing beim Anbieter. Zweitens Diversität beim Kunden: Ein zweiter, unabhängiger DNS-Anbieter hätte die Namen weiter aufgelöst. Dyn beschreibt außerdem einen „Retry Storm“: Legitime Wiederholungsanfragen ließen den Angriff größer erscheinen – auch normales Verhalten kann eine Störung verstärken. Und: Die Angriffswerkzeuge waren billige Kameras und Router – Sicherheit der anderen ist Teil der eigenen Resilienz.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Prinzipbezug: Redundanz plus Entkopplung. Rückbezug Sitzung 2 (AWS 2021, OVHcloud 2021) und Glossar: Multi-AZ schützt gegen den Ausfall eines Standorts, nicht gegen den Ausfall eines Anbieters. Der folgende Fall ist besonders, weil kein Angriff und kein Brand den Ausfall verursacht hat – sondern eine bewusste Entscheidung.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Rechenzentren sind Betriebszentren des Zweckverbands ZIDKOR. Zwei Seiten derselben Medaille: Zentralisierung macht kleine Kommunen überhaupt erst professionell betreibbar – und schafft ein Konzentrationsrisiko. Das Land hat zusätzlich über Citrix erreichbare Dienste des Landesnetzes abgeschaltet. Frage: Ist ein zweitägiger, geplanter Ausfall ein Resilienzversagen oder eine Resilienzleistung? Überleitung zur nächsten 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Ergänzung zur Vorlesung. Verbindung zur Resilienzkurve aus Sitzung 2: Die Abschaltung erzeugt bewusst einen kleinen, kurzen Einbruch, um einen tiefen, langen zu vermeiden. Und Graceful Degradation im Kleinen: Bei der Stadt Mainz fiel nur die Website, nicht der Bürgerservice. Diskussion: Wer darf so eine Entscheidung treffen – um drei Uhr nachts am Sonntag? Das führt direkt zu Sitzung 5 (Rollen, Governance).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Prinzipbezug: Diversität und Recovery. Rückbezug Sitzung 3: Hybrid-Fallbeispiel, AD durch Ransomware kompromittiert, Cloud-Analytics technisch verfügbar, aber kein Login. Auch an der Hochschule Mainz waren neue Zugangsdaten der erste Schritt zurück. Jetzt ein Fall ganz ohne Angriff.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Zeiten laut Microsoft: Beginn gegen 19:00 UTC, Rollback 21:05 UTC, Restwirkungen bis 09:25 UTC am Folgetag. Drei Lehren: Erstens, Identity ist ein globaler Fail-Knopf – Tausende Anwendungen anderer Firmen fielen mit. Zweitens, eine Rückfallebene muss genau den Fehlerfall abdecken, der eintritt. Drittens, Automatisierung braucht Leitplanken – Microsoft hat den sicheren Rollout auch für das Entfernen von Schlüsseln angekündigt. Gleichzeitig ein Human-Failure-Fall im weiteren Sinn – Überleitung.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Baumdiagramm unterscheidet Fehler (Errors) von Regelverstößen (Violations). Für das Resilienzdesign gilt: Menschen machen Fehler – die Frage ist, ob das System sie auffängt. Leitplanken im Werkzeug sind eine Ergänzung zum Skript, sie folgen direkt aus dem nächsten 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Konsequenzen laut AWS: Das Werkzeug entfernt Kapazität langsamer und nie unter eine Mindestgrenze, weitere Werkzeuge werden geprüft, das Index-Subsystem wird in kleinere Zellen geteilt, die Status-Konsole läuft in mehreren Regionen. Lehre: Der Mensch war autorisiert und folgte einem Playbook. Nicht der Mensch wird ausgetauscht, sondern das System bekommt Leitplanken. Das Status-Dashboard ist ein Vorgeschmack auf die Notkommunikation gleich.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Klassiker: SolarWinds 2020 – ein trojanisiertes, signiertes Update für eine Netzwerk-Management-Software erreichte Tausende Kunden, darunter US-Behörden. Software-Supply-Chain ist die eine Hälfte, der Dienstleister die andere. Der nächste Fall ist ein Dienstleister aus der Region.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Lehren: Erstens, ein Dienstleister ist ein gemeinsamer Fehlerpfad für alle Kunden – wie KDZ/KGRZ, nur diesmal mit Angriff. Zweitens, Graceful Degradation: Die Versorgung als Kernfunktion war von der Büro-IT getrennt und lief weiter. Drittens, Vorsicht mit frühen Aussagen: Anfangs hieß es, Kundendaten seien nicht betroffen; im Juli bestätigte Entega die Veröffentlichung von Kundendaten. Krisenkommunikation braucht belastbare Aussagen. Die in der Presse genannte Lösegeldsumme ist offiziell nicht bestätigt – nicht als Fakt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Ergänzung zur Vorlesung. Prinzipien: Diversität (Kanäle außerhalb der eigenen IT) und Redundanz (vorbereitete Ersatzdomain, Kontaktlisten auf Papier). Wichtig ist auch der bekannte Absender: In einer Krise ist jede neue Domain auch ein Phishing-Risiko – Angreifer nutzen Ausfälle gern für gefälschte Nachrichten. Brücke zu Sitzung 5 und 6: Kommunikation, Rollen und Krisenstab.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Tabelle gemeinsam füllen: Spalte „Fall“ abdecken und zuordnen lassen. Die Normbezüge stammen aus dem Skript; die Zuordnung ist eine Orientierung, keine Normauslegung.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„Capability-based Resilience“ im Sinne von NIST SP 800-160 Vol. 2. Der dritte Punkt ist eine Beobachtung aus den heutigen Fällen: Dyn, KDZ/KGRZ, Azure AD und Count+Care sind alle gemeinsame Abhängigkeiten vieler Organisationen.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Varianten für die Gruppen: Hochschule Mainz aus Sicht der Studierenden (Was hätte euch geholfen?), eine Kommune im KDZ-Verbund, ein Kunde von Count+Care, ein SaaS-Anbieter mit Azure-AD-Login. Zwei bis drei Gruppen vorstellen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Hinweis: Wenn eine Maßnahme den Angriff verhindert, ist sie Prävention – gefragt ist, was hilft, wenn er gelingt.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Kernpunkte aus Abschnitt 7 des Skripts, ergänzt um die Lehren aus den Fällen. Die Prüfungsfragen am Ende des Skripts lassen sich alle mit den heutigen Fällen beantworten.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Teaser Sitzung 5: Heute stand die Technik im Vordergrund. Aber jede Entscheidung von heute – abschalten, priorisieren, kommunizieren – hat jemand getroffen. Nächstes Mal geht es um diese Menschen und Strukturen.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2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2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2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2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3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3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3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3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3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3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6.xml" /><Relationship Id="rId3" Type="http://schemas.openxmlformats.org/officeDocument/2006/relationships/image" Target="../media/image3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3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8.xml" /><Relationship Id="rId3" Type="http://schemas.openxmlformats.org/officeDocument/2006/relationships/image" Target="../media/image3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3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4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5.xml" /><Relationship Id="rId3" Type="http://schemas.openxmlformats.org/officeDocument/2006/relationships/hyperlink" Target="../../../termine/04.html" TargetMode="External" /><Relationship Id="rId4" Type="http://schemas.openxmlformats.org/officeDocument/2006/relationships/hyperlink" Target="../../../skripte/Skript-04.html" TargetMode="External" /><Relationship Id="rId5" Type="http://schemas.openxmlformats.org/officeDocument/2006/relationships/hyperlink" Target="../../../glossar.html" TargetMode="External" /><Relationship Id="rId6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Cyber-Bedrohungen und Resilienzstrategien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4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&amp; Lernziele</a:t>
            </a:r>
          </a:p>
          <a:p>
            <a:pPr lvl="0"/>
            <a:r>
              <a:rPr/>
              <a:t>Einstieg: Die eigene Hochschule offline</a:t>
            </a:r>
          </a:p>
          <a:p>
            <a:pPr lvl="0"/>
            <a:r>
              <a:rPr/>
              <a:t>Resilienz ist relational – sechs Bedrohungsklassen</a:t>
            </a:r>
          </a:p>
          <a:p>
            <a:pPr lvl="0"/>
            <a:r>
              <a:rPr/>
              <a:t>Ransomware · DDoS · RZ- und Dienstleister-Ausfall</a:t>
            </a:r>
          </a:p>
          <a:p>
            <a:pPr lvl="0"/>
            <a:r>
              <a:rPr/>
              <a:t>Identity-Ausfall · Human Failure · Supply Chain</a:t>
            </a:r>
          </a:p>
          <a:p>
            <a:pPr lvl="0"/>
            <a:r>
              <a:rPr/>
              <a:t>Kommunikation, wenn die eigene IT schweigt</a:t>
            </a:r>
          </a:p>
          <a:p>
            <a:pPr lvl="0"/>
            <a:r>
              <a:rPr/>
              <a:t>Mapping: Threat → Capability</a:t>
            </a:r>
          </a:p>
          <a:p>
            <a:pPr lvl="0"/>
            <a:r>
              <a:rPr/>
              <a:t>Übung: Threat-to-Resilience-Mapping</a:t>
            </a:r>
          </a:p>
          <a:p>
            <a:pPr lvl="0"/>
            <a:r>
              <a:rPr/>
              <a:t>Kernpunkte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Sitzung 3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Vier technische Prinzipien: </a:t>
            </a:r>
            <a:r>
              <a:rPr b="1"/>
              <a:t>Redundanz, Diversität, Wiederherstellbarkeit, Adaptivität</a:t>
            </a:r>
          </a:p>
          <a:p>
            <a:pPr lvl="0"/>
            <a:r>
              <a:rPr/>
              <a:t>Redundanz schützt nicht vor Common-Mode-Failures (CrowdStrike 2024)</a:t>
            </a:r>
          </a:p>
          <a:p>
            <a:pPr lvl="0"/>
            <a:r>
              <a:rPr/>
              <a:t>Recovery ist eine Fähigkeit, kein Dokument (Rackspace 2022)</a:t>
            </a:r>
          </a:p>
          <a:p>
            <a:pPr lvl="0"/>
            <a:r>
              <a:rPr/>
              <a:t>In Hybridarchitekturen sitzt der SPOF oft in der Steuerungsebene (Facebook 2021)</a:t>
            </a:r>
          </a:p>
          <a:p>
            <a:pPr lvl="0" indent="0" marL="0">
              <a:buNone/>
            </a:pPr>
            <a:r>
              <a:rPr b="1"/>
              <a:t>Bisher ging es um Fehler. Heute kommt der Gegner dazu.</a:t>
            </a:r>
          </a:p>
        </p:txBody>
      </p:sp>
      <p:pic>
        <p:nvPicPr>
          <p:cNvPr descr="../../assets/vier-prinzipi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Lernziele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Nach dieser Sitzung können Sie …</a:t>
            </a:r>
          </a:p>
          <a:p>
            <a:pPr lvl="0"/>
            <a:r>
              <a:rPr/>
              <a:t>erklären, warum Resilienz </a:t>
            </a:r>
            <a:r>
              <a:rPr b="1"/>
              <a:t>relational</a:t>
            </a:r>
            <a:r>
              <a:rPr/>
              <a:t> ist – resilient </a:t>
            </a:r>
            <a:r>
              <a:rPr i="1"/>
              <a:t>gegen etwas</a:t>
            </a:r>
            <a:r>
              <a:rPr/>
              <a:t>,</a:t>
            </a:r>
          </a:p>
          <a:p>
            <a:pPr lvl="0"/>
            <a:r>
              <a:rPr/>
              <a:t>sechs </a:t>
            </a:r>
            <a:r>
              <a:rPr b="1"/>
              <a:t>Bedrohungsklassen</a:t>
            </a:r>
            <a:r>
              <a:rPr/>
              <a:t> nach ihrem Wirkmechanismus unterscheiden,</a:t>
            </a:r>
          </a:p>
          <a:p>
            <a:pPr lvl="0"/>
            <a:r>
              <a:rPr/>
              <a:t>jeder Bedrohung die </a:t>
            </a:r>
            <a:r>
              <a:rPr b="1"/>
              <a:t>Resilienzprinzipien</a:t>
            </a:r>
            <a:r>
              <a:rPr/>
              <a:t> zuordnen, die ihren Effekt absorbieren (Threat → Capability),</a:t>
            </a:r>
          </a:p>
          <a:p>
            <a:pPr lvl="0"/>
            <a:r>
              <a:rPr/>
              <a:t>an realen Fällen begründen, warum </a:t>
            </a:r>
            <a:r>
              <a:rPr b="1"/>
              <a:t>Dienstleister und Identität</a:t>
            </a:r>
            <a:r>
              <a:rPr/>
              <a:t> versteckte Single Points of Failure sind,</a:t>
            </a:r>
          </a:p>
          <a:p>
            <a:pPr lvl="0"/>
            <a:r>
              <a:rPr/>
              <a:t>die </a:t>
            </a:r>
            <a:r>
              <a:rPr b="1"/>
              <a:t>vorsorgliche Abschaltung</a:t>
            </a:r>
            <a:r>
              <a:rPr/>
              <a:t> und die </a:t>
            </a:r>
            <a:r>
              <a:rPr b="1"/>
              <a:t>Notkommunikation</a:t>
            </a:r>
            <a:r>
              <a:rPr/>
              <a:t> als Resilienzentscheidungen bewerten.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Einstieg: Die eigene Hochschule offline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24. November 2025:</a:t>
            </a:r>
            <a:r>
              <a:rPr/>
              <a:t> Die Hochschule Mainz fährt nach einem Cyberangriff ihre IT-Systeme herunter</a:t>
            </a:r>
          </a:p>
          <a:p>
            <a:pPr lvl="0"/>
            <a:r>
              <a:rPr/>
              <a:t>E-Mail nur eingeschränkt nutzbar, Ermittlungsbehörden eingebunden, </a:t>
            </a:r>
            <a:r>
              <a:rPr b="1"/>
              <a:t>Krisenstab</a:t>
            </a:r>
            <a:r>
              <a:rPr/>
              <a:t> eingerichtet</a:t>
            </a:r>
          </a:p>
          <a:p>
            <a:pPr lvl="0"/>
            <a:r>
              <a:rPr/>
              <a:t>Die </a:t>
            </a:r>
            <a:r>
              <a:rPr b="1"/>
              <a:t>Präsenzlehre läuft weiter</a:t>
            </a:r>
            <a:r>
              <a:rPr/>
              <a:t>; informiert wird über Campus2Go-App, Instagram und LinkedIn</a:t>
            </a:r>
          </a:p>
          <a:p>
            <a:pPr lvl="0"/>
            <a:r>
              <a:rPr/>
              <a:t>Wiederaufbau Schritt für Schritt: neue Zugangsdaten, </a:t>
            </a:r>
            <a:r>
              <a:rPr b="1"/>
              <a:t>alle Geräte neu aufgesetzt</a:t>
            </a:r>
            <a:r>
              <a:rPr/>
              <a:t>, kritische Bereiche zuerst</a:t>
            </a:r>
          </a:p>
          <a:p>
            <a:pPr lvl="0" indent="0" marL="0">
              <a:buNone/>
            </a:pPr>
            <a:r>
              <a:rPr b="1"/>
              <a:t>Frage:</a:t>
            </a:r>
            <a:r>
              <a:rPr/>
              <a:t> Was hat in diesen Wochen funktioniert – und warum?</a:t>
            </a:r>
          </a:p>
        </p:txBody>
      </p:sp>
      <p:pic>
        <p:nvPicPr>
          <p:cNvPr descr="assets/hsm-2025-wiederaufbau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ist relational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 System ist nie „resilient an sich“, sondern </a:t>
            </a:r>
            <a:r>
              <a:rPr b="1"/>
              <a:t>resilient gegen etwas</a:t>
            </a:r>
            <a:r>
              <a:rPr/>
              <a:t>.</a:t>
            </a:r>
          </a:p>
          <a:p>
            <a:pPr lvl="0"/>
            <a:r>
              <a:rPr/>
              <a:t>Ohne Bedrohungsbezug bleiben Maßnahmen im Leeren.</a:t>
            </a:r>
          </a:p>
          <a:p>
            <a:pPr lvl="0"/>
            <a:r>
              <a:rPr/>
              <a:t>Das Mapping Bedrohung → Fähigkeit schafft </a:t>
            </a:r>
            <a:r>
              <a:rPr b="1"/>
              <a:t>Priorisierung und Budgetfokus</a:t>
            </a:r>
            <a:r>
              <a:rPr/>
              <a:t>.</a:t>
            </a:r>
          </a:p>
          <a:p>
            <a:pPr lvl="0"/>
            <a:r>
              <a:rPr/>
              <a:t>Ziel ist nicht Prävention, sondern </a:t>
            </a:r>
            <a:r>
              <a:rPr b="1"/>
              <a:t>Funktionsfähigkeit trotz realer Ereignisse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Nicht die Bedrohung wird kontrolliert, sondern die Fähigkeit, ihren Effekt zu absorbieren.</a:t>
            </a:r>
          </a:p>
        </p:txBody>
      </p:sp>
      <p:pic>
        <p:nvPicPr>
          <p:cNvPr descr="assets/bedrohung-ven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Sechs Bedrohungsklassen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Entscheidend ist der </a:t>
            </a:r>
            <a:r>
              <a:rPr b="1"/>
              <a:t>Wirkmechanismus</a:t>
            </a:r>
            <a:r>
              <a:rPr/>
              <a:t>, nicht die Ursache:</a:t>
            </a:r>
          </a:p>
          <a:p>
            <a:pPr lvl="0"/>
            <a:r>
              <a:rPr b="1"/>
              <a:t>Ransomware</a:t>
            </a:r>
            <a:r>
              <a:rPr/>
              <a:t> zerstört Daten und Systeme</a:t>
            </a:r>
          </a:p>
          <a:p>
            <a:pPr lvl="0"/>
            <a:r>
              <a:rPr b="1"/>
              <a:t>DDoS</a:t>
            </a:r>
            <a:r>
              <a:rPr/>
              <a:t> verbraucht Kapazität</a:t>
            </a:r>
          </a:p>
          <a:p>
            <a:pPr lvl="0"/>
            <a:r>
              <a:rPr b="1"/>
              <a:t>RZ- und Provider-Ausfall</a:t>
            </a:r>
            <a:r>
              <a:rPr/>
              <a:t> nimmt die Umgebung</a:t>
            </a:r>
          </a:p>
          <a:p>
            <a:pPr lvl="0"/>
            <a:r>
              <a:rPr b="1"/>
              <a:t>Identity-Ausfall</a:t>
            </a:r>
            <a:r>
              <a:rPr/>
              <a:t> nimmt den Zugang</a:t>
            </a:r>
          </a:p>
          <a:p>
            <a:pPr lvl="0"/>
            <a:r>
              <a:rPr b="1"/>
              <a:t>Human Failure</a:t>
            </a:r>
            <a:r>
              <a:rPr/>
              <a:t> propagiert Fehler über Automatisierung</a:t>
            </a:r>
          </a:p>
          <a:p>
            <a:pPr lvl="0"/>
            <a:r>
              <a:rPr b="1"/>
              <a:t>Supply Chain</a:t>
            </a:r>
            <a:r>
              <a:rPr/>
              <a:t> importiert fremde Kompromittierung</a:t>
            </a:r>
          </a:p>
        </p:txBody>
      </p:sp>
      <p:pic>
        <p:nvPicPr>
          <p:cNvPr descr="assets/bedrohungsklass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1: Ransomware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Verschlüsselung, Löschung oder Sabotage – bei seitlicher Ausbreitung auch von Replikaten und Backups</a:t>
            </a:r>
          </a:p>
          <a:p>
            <a:pPr lvl="0" indent="0" marL="0">
              <a:buNone/>
            </a:pPr>
            <a:r>
              <a:rPr b="1"/>
              <a:t>Resilienzstrategien (nicht Prävention!)</a:t>
            </a:r>
          </a:p>
          <a:p>
            <a:pPr lvl="0"/>
            <a:r>
              <a:rPr/>
              <a:t>Immutable- und Offline-Backups außerhalb des Blast Radius</a:t>
            </a:r>
          </a:p>
          <a:p>
            <a:pPr lvl="0"/>
            <a:r>
              <a:rPr/>
              <a:t>Netzwerk- und Domain-Segmentierung</a:t>
            </a:r>
          </a:p>
          <a:p>
            <a:pPr lvl="0"/>
            <a:r>
              <a:rPr/>
              <a:t>Gold-Images und </a:t>
            </a:r>
            <a:r>
              <a:rPr b="1"/>
              <a:t>Clean-Room-Recovery</a:t>
            </a:r>
          </a:p>
          <a:p>
            <a:pPr lvl="0"/>
            <a:r>
              <a:rPr/>
              <a:t>Recovery-Tests statt Papierpläne</a:t>
            </a:r>
          </a:p>
          <a:p>
            <a:pPr lvl="0" indent="0" marL="0">
              <a:buNone/>
            </a:pPr>
            <a:r>
              <a:rPr b="1"/>
              <a:t>Zielgröße:</a:t>
            </a:r>
            <a:r>
              <a:rPr/>
              <a:t> RTO und RPO niedrig halten – trotz kompromittierter Produktion</a:t>
            </a:r>
          </a:p>
        </p:txBody>
      </p:sp>
      <p:pic>
        <p:nvPicPr>
          <p:cNvPr descr="assets/ransomwar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Wiederaufbau an der Hochschule Mainz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Neue Zugangsdaten</a:t>
            </a:r>
            <a:r>
              <a:rPr/>
              <a:t> für alle Beschäftigten, Lehrenden und Lehrbeauftragten</a:t>
            </a:r>
          </a:p>
          <a:p>
            <a:pPr lvl="0"/>
            <a:r>
              <a:rPr b="1"/>
              <a:t>Alle IT-verwalteten Geräte</a:t>
            </a:r>
            <a:r>
              <a:rPr/>
              <a:t> eingesammelt und mit neuen System-Images ausgerollt</a:t>
            </a:r>
          </a:p>
          <a:p>
            <a:pPr lvl="0"/>
            <a:r>
              <a:rPr b="1"/>
              <a:t>Priorisierung:</a:t>
            </a:r>
            <a:r>
              <a:rPr/>
              <a:t> systemrelevante Bereiche zuerst, dann die übrigen Abteilungen</a:t>
            </a:r>
          </a:p>
          <a:p>
            <a:pPr lvl="0"/>
            <a:r>
              <a:rPr/>
              <a:t>Zahlungsfähigkeit </a:t>
            </a:r>
            <a:r>
              <a:rPr b="1"/>
              <a:t>vor Weihnachten</a:t>
            </a:r>
            <a:r>
              <a:rPr/>
              <a:t>, eduroam im Februar 2026 wieder an allen Standorten</a:t>
            </a:r>
          </a:p>
          <a:p>
            <a:pPr lvl="0"/>
            <a:r>
              <a:rPr/>
              <a:t>Viele Abläufe laufen über </a:t>
            </a:r>
            <a:r>
              <a:rPr b="1"/>
              <a:t>Monate</a:t>
            </a:r>
            <a:r>
              <a:rPr/>
              <a:t> mit höherem organisatorischem Aufwand</a:t>
            </a:r>
          </a:p>
          <a:p>
            <a:pPr lvl="0" indent="0" marL="0">
              <a:buNone/>
            </a:pPr>
            <a:r>
              <a:rPr b="1"/>
              <a:t>Neu aufbauen statt reparieren – das ist Clean-Room-Recovery.</a:t>
            </a:r>
          </a:p>
        </p:txBody>
      </p:sp>
      <p:pic>
        <p:nvPicPr>
          <p:cNvPr descr="assets/hsm-2025-wiederaufbau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2: DDoS und Lastangriffe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Der Dienst ist technisch intakt, aber nicht mehr nutzbar – Ressourcen werden schneller verbraucht, als sie bereitstehen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Anycast-CDN und Traffic-Scrubbing</a:t>
            </a:r>
          </a:p>
          <a:p>
            <a:pPr lvl="0"/>
            <a:r>
              <a:rPr/>
              <a:t>Auto-Scaling und Rate-Limiting</a:t>
            </a:r>
          </a:p>
          <a:p>
            <a:pPr lvl="0"/>
            <a:r>
              <a:rPr/>
              <a:t>Graceful Degradation – nicht alles oder nichts</a:t>
            </a:r>
          </a:p>
          <a:p>
            <a:pPr lvl="0"/>
            <a:r>
              <a:rPr/>
              <a:t>API-Quotas und Circuit Breaker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Dienst bleibt nutzbar – nicht perfekt, aber funktional</a:t>
            </a:r>
          </a:p>
        </p:txBody>
      </p:sp>
      <p:pic>
        <p:nvPicPr>
          <p:cNvPr descr="assets/ddo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565400"/>
            <a:ext cx="56134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Dyn und das Mirai-Botnetz 2016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21. Oktober 2016:</a:t>
            </a:r>
            <a:r>
              <a:rPr/>
              <a:t> Zwei Angriffswellen treffen den DNS-Anbieter Dyn, vor allem an der US-Ostküste</a:t>
            </a:r>
          </a:p>
          <a:p>
            <a:pPr lvl="0"/>
            <a:r>
              <a:rPr/>
              <a:t>Hauptquelle: das </a:t>
            </a:r>
            <a:r>
              <a:rPr b="1"/>
              <a:t>Mirai-Botnetz</a:t>
            </a:r>
            <a:r>
              <a:rPr/>
              <a:t> aus gekaperten IoT-Geräten – Dyn schätzt bis zu </a:t>
            </a:r>
            <a:r>
              <a:rPr b="1"/>
              <a:t>100.000</a:t>
            </a:r>
            <a:r>
              <a:rPr/>
              <a:t> Endpunkte</a:t>
            </a:r>
          </a:p>
          <a:p>
            <a:pPr lvl="0"/>
            <a:r>
              <a:rPr/>
              <a:t>Dienste wie Twitter, Spotify und Reddit sind für viele Nutzer </a:t>
            </a:r>
            <a:r>
              <a:rPr b="1"/>
              <a:t>nicht erreichbar</a:t>
            </a:r>
          </a:p>
          <a:p>
            <a:pPr lvl="0"/>
            <a:r>
              <a:rPr/>
              <a:t>Die Webserver selbst sind intakt – nur ihre </a:t>
            </a:r>
            <a:r>
              <a:rPr b="1"/>
              <a:t>Namen lassen sich nicht auflösen</a:t>
            </a:r>
          </a:p>
          <a:p>
            <a:pPr lvl="0" indent="0" marL="0">
              <a:buNone/>
            </a:pPr>
            <a:r>
              <a:rPr b="1"/>
              <a:t>Wer nur einen DNS-Anbieter hat, teilt dessen Schicksal.</a:t>
            </a:r>
          </a:p>
        </p:txBody>
      </p:sp>
      <p:pic>
        <p:nvPicPr>
          <p:cNvPr descr="assets/dyn-2016-abhaengigkei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3: Rechenzentrums- und Dienstleister-Ausfall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Die Umgebung fällt von außen weg – Redundanz auf Anbieterebene bricht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Multi-AZ- und Cross-Region-Deployment</a:t>
            </a:r>
          </a:p>
          <a:p>
            <a:pPr lvl="0"/>
            <a:r>
              <a:rPr/>
              <a:t>Multi-Cloud oder zweiter Betreiber für kritische Workloads</a:t>
            </a:r>
          </a:p>
          <a:p>
            <a:pPr lvl="0"/>
            <a:r>
              <a:rPr/>
              <a:t>lokaler Fallback für die Mindestfunktion</a:t>
            </a:r>
          </a:p>
          <a:p>
            <a:pPr lvl="0"/>
            <a:r>
              <a:rPr/>
              <a:t>Trennung von Steuer- und Ausführungsdomäne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Provider ≠ Resilienz – Architektur und Vertrag entscheiden</a:t>
            </a:r>
          </a:p>
        </p:txBody>
      </p:sp>
      <p:pic>
        <p:nvPicPr>
          <p:cNvPr descr="assets/cloud-region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896100" y="1841500"/>
            <a:ext cx="4203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KDZ Mainz und KGRZ Koblenz 2026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27.09.2026:</a:t>
            </a:r>
            <a:r>
              <a:rPr/>
              <a:t> Die kommunalen Rechenzentren in Mainz und Koblenz schalten zentrale Fachverfahren </a:t>
            </a:r>
            <a:r>
              <a:rPr b="1"/>
              <a:t>vorsorglich ab</a:t>
            </a:r>
            <a:r>
              <a:rPr/>
              <a:t> – wegen kritischer Lücken in Citrix NetScaler</a:t>
            </a:r>
          </a:p>
          <a:p>
            <a:pPr lvl="0"/>
            <a:r>
              <a:rPr/>
              <a:t>Betroffen: alle </a:t>
            </a:r>
            <a:r>
              <a:rPr b="1"/>
              <a:t>194</a:t>
            </a:r>
            <a:r>
              <a:rPr/>
              <a:t> hauptamtlichen Verwaltungen in Rheinland-Pfalz – Meldeamt, Kfz-Zulassung, Standesamt u. a. stehen still</a:t>
            </a:r>
          </a:p>
          <a:p>
            <a:pPr lvl="0"/>
            <a:r>
              <a:rPr b="1"/>
              <a:t>29.09.:</a:t>
            </a:r>
            <a:r>
              <a:rPr/>
              <a:t> nach Updates und Prüfung wieder in Betrieb, laut Betreibern kein erfolgreicher Angriff</a:t>
            </a:r>
          </a:p>
          <a:p>
            <a:pPr lvl="0" indent="0" marL="0">
              <a:buNone/>
            </a:pPr>
            <a:r>
              <a:rPr b="1"/>
              <a:t>Ein gemeinsamer Dienstleister bündelt Effizienz – und das Ausfallrisiko.</a:t>
            </a:r>
          </a:p>
        </p:txBody>
      </p:sp>
      <p:pic>
        <p:nvPicPr>
          <p:cNvPr descr="assets/zidkor-2026-konzentra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Abschalten als Resilienzentscheidung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Weiterlaufen:</a:t>
            </a:r>
            <a:r>
              <a:rPr/>
              <a:t> Dienst verfügbar, aber unbekanntes Risiko – Einbruch, Datenabfluss, wochenlanger Wiederaufbau</a:t>
            </a:r>
          </a:p>
          <a:p>
            <a:pPr lvl="0"/>
            <a:r>
              <a:rPr b="1"/>
              <a:t>Abschalten:</a:t>
            </a:r>
            <a:r>
              <a:rPr/>
              <a:t> geplanter Ausfall mit </a:t>
            </a:r>
            <a:r>
              <a:rPr b="1"/>
              <a:t>absehbarer Dauer</a:t>
            </a:r>
            <a:r>
              <a:rPr/>
              <a:t> – der Angreifer kommt nicht hinein</a:t>
            </a:r>
          </a:p>
          <a:p>
            <a:pPr lvl="0"/>
            <a:r>
              <a:rPr/>
              <a:t>Voraussetzung: ein </a:t>
            </a:r>
            <a:r>
              <a:rPr b="1"/>
              <a:t>vorbereiteter Notbetrieb</a:t>
            </a:r>
            <a:r>
              <a:rPr/>
              <a:t> und klare Entscheidungsrechte</a:t>
            </a:r>
          </a:p>
          <a:p>
            <a:pPr lvl="0"/>
            <a:r>
              <a:rPr b="1"/>
              <a:t>Stadt Mainz, 21. Oktober 2026:</a:t>
            </a:r>
            <a:r>
              <a:rPr/>
              <a:t> wegen einer kritischen PHP-Lücke Website vom Netz – Ämter, Telefon und E-Mail laufen weiter</a:t>
            </a:r>
          </a:p>
          <a:p>
            <a:pPr lvl="0" indent="0" marL="0">
              <a:buNone/>
            </a:pPr>
            <a:r>
              <a:rPr b="1"/>
              <a:t>Ein kontrollierter Ausfall ist besser als ein unkontrollierter.</a:t>
            </a:r>
          </a:p>
        </p:txBody>
      </p:sp>
      <p:pic>
        <p:nvPicPr>
          <p:cNvPr descr="assets/abschalten-abwaegun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4: Identity-Ausfall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Systeme laufen – aber niemand kommt hinein (Lockout)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Break-Glass-Accounts, lokal und offline</a:t>
            </a:r>
          </a:p>
          <a:p>
            <a:pPr lvl="0"/>
            <a:r>
              <a:rPr/>
              <a:t>zweiter unabhängiger IdP oder Fallback-Authentisierung</a:t>
            </a:r>
          </a:p>
          <a:p>
            <a:pPr lvl="0"/>
            <a:r>
              <a:rPr/>
              <a:t>Notfallzugang ohne Cloud-Abhängigkeit</a:t>
            </a:r>
          </a:p>
          <a:p>
            <a:pPr lvl="0"/>
            <a:r>
              <a:rPr/>
              <a:t>Minimierung globaler Koppelstellen</a:t>
            </a:r>
          </a:p>
          <a:p>
            <a:pPr lvl="0" indent="0" marL="0">
              <a:buNone/>
            </a:pPr>
            <a:r>
              <a:rPr b="1"/>
              <a:t>Kernaussage:</a:t>
            </a:r>
            <a:r>
              <a:rPr/>
              <a:t> Identity ist oft der versteckte Single Point of Failure</a:t>
            </a:r>
          </a:p>
        </p:txBody>
      </p:sp>
      <p:pic>
        <p:nvPicPr>
          <p:cNvPr descr="assets/identity-spof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866900"/>
            <a:ext cx="5613400" cy="420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Azure AD 2021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 März 2021, abends:</a:t>
            </a:r>
            <a:r>
              <a:rPr/>
              <a:t> Ein automatischer Prozess entfernt einen Signierschlüssel, der als „behalten“ markiert war</a:t>
            </a:r>
          </a:p>
          <a:p>
            <a:pPr lvl="0"/>
            <a:r>
              <a:rPr/>
              <a:t>Anwendungen verwerfen damit signierte Tokens – Anmeldungen scheitern</a:t>
            </a:r>
          </a:p>
          <a:p>
            <a:pPr lvl="0"/>
            <a:r>
              <a:rPr/>
              <a:t>Betroffen: Teams, Exchange, Azure-Portal, Xbox und </a:t>
            </a:r>
            <a:r>
              <a:rPr b="1"/>
              <a:t>Drittanwendungen</a:t>
            </a:r>
            <a:r>
              <a:rPr/>
              <a:t> mit Azure-AD-Login</a:t>
            </a:r>
          </a:p>
          <a:p>
            <a:pPr lvl="0"/>
            <a:r>
              <a:rPr/>
              <a:t>Rollback nach rund zwei Stunden, Restwirkungen bis zum nächsten Morgen</a:t>
            </a:r>
          </a:p>
          <a:p>
            <a:pPr lvl="0"/>
            <a:r>
              <a:rPr/>
              <a:t>Die </a:t>
            </a:r>
            <a:r>
              <a:rPr b="1"/>
              <a:t>Backup-Authentisierung half nicht</a:t>
            </a:r>
            <a:r>
              <a:rPr/>
              <a:t>: Sie deckte nur die Ausgabe von Tokens ab, nicht ihre Prüfung</a:t>
            </a:r>
          </a:p>
          <a:p>
            <a:pPr lvl="0" indent="0" marL="0">
              <a:buNone/>
            </a:pPr>
            <a:r>
              <a:rPr b="1"/>
              <a:t>Alles lief – nur der Zugang nicht.</a:t>
            </a:r>
          </a:p>
        </p:txBody>
      </p:sp>
      <p:pic>
        <p:nvPicPr>
          <p:cNvPr descr="assets/azure-ad-2021-kett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5: Human Failure und Fehlkonfiguration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Ein lokaler Fehler wird über Automatisierung systemisch (IaC, CI/CD, Admin-Werkzeuge)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Vier-Augen-Prinzip und Separation of Duties</a:t>
            </a:r>
          </a:p>
          <a:p>
            <a:pPr lvl="0"/>
            <a:r>
              <a:rPr/>
              <a:t>Staging, Canary Deployment, Feature Flags</a:t>
            </a:r>
          </a:p>
          <a:p>
            <a:pPr lvl="0"/>
            <a:r>
              <a:rPr/>
              <a:t>Rollback- und Snapshot-Fähigkeit</a:t>
            </a:r>
          </a:p>
          <a:p>
            <a:pPr lvl="0"/>
            <a:r>
              <a:rPr b="1"/>
              <a:t>Leitplanken im Werkzeug</a:t>
            </a:r>
            <a:r>
              <a:rPr/>
              <a:t> und Post-Mortem-Kultur statt Schuldsuche</a:t>
            </a:r>
          </a:p>
          <a:p>
            <a:pPr lvl="0" indent="0" marL="0">
              <a:buNone/>
            </a:pPr>
            <a:r>
              <a:rPr b="1"/>
              <a:t>Prinzipbezug:</a:t>
            </a:r>
            <a:r>
              <a:rPr/>
              <a:t> Wiederherstellbarkeit und Governance</a:t>
            </a:r>
          </a:p>
        </p:txBody>
      </p:sp>
      <p:pic>
        <p:nvPicPr>
          <p:cNvPr descr="assets/human-failure-type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854200"/>
            <a:ext cx="5613400" cy="421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AWS S3 2017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28. Februar 2017:</a:t>
            </a:r>
            <a:r>
              <a:rPr/>
              <a:t> Ein Techniker will per Befehl wenige Server eines S3-Teilsystems entfernen – </a:t>
            </a:r>
            <a:r>
              <a:rPr b="1"/>
              <a:t>eine Eingabe ist falsch</a:t>
            </a:r>
          </a:p>
          <a:p>
            <a:pPr lvl="0"/>
            <a:r>
              <a:rPr/>
              <a:t>Es fallen deutlich mehr Server weg; zwei Kernsubsysteme müssen </a:t>
            </a:r>
            <a:r>
              <a:rPr b="1"/>
              <a:t>komplett neu starten</a:t>
            </a:r>
          </a:p>
          <a:p>
            <a:pPr lvl="0"/>
            <a:r>
              <a:rPr/>
              <a:t>S3 in us-east-1 ist gut </a:t>
            </a:r>
            <a:r>
              <a:rPr b="1"/>
              <a:t>vier Stunden</a:t>
            </a:r>
            <a:r>
              <a:rPr/>
              <a:t> gestört, abhängige Dienste mit</a:t>
            </a:r>
          </a:p>
          <a:p>
            <a:pPr lvl="0"/>
            <a:r>
              <a:rPr/>
              <a:t>Pointe: Auch das </a:t>
            </a:r>
            <a:r>
              <a:rPr b="1"/>
              <a:t>Status-Dashboard</a:t>
            </a:r>
            <a:r>
              <a:rPr/>
              <a:t> hing an S3 und zeigte lange nichts an</a:t>
            </a:r>
          </a:p>
          <a:p>
            <a:pPr lvl="0" indent="0" marL="0">
              <a:buNone/>
            </a:pPr>
            <a:r>
              <a:rPr b="1"/>
              <a:t>AWS änderte das Werkzeug, nicht nur die Schulung.</a:t>
            </a:r>
          </a:p>
        </p:txBody>
      </p:sp>
      <p:pic>
        <p:nvPicPr>
          <p:cNvPr descr="assets/s3-2017-zeitleist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05000"/>
            <a:ext cx="5613400" cy="411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6: Supply-Chain-Angriff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Die Kompromittierung kommt über Dritte in die eigene Umgebung – über Software, Updates oder Dienstleister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Lieferantendiversität, keine Monokultur in kritischen Abhängigkeiten</a:t>
            </a:r>
          </a:p>
          <a:p>
            <a:pPr lvl="0"/>
            <a:r>
              <a:rPr/>
              <a:t>Zero Trust for Dependencies</a:t>
            </a:r>
          </a:p>
          <a:p>
            <a:pPr lvl="0"/>
            <a:r>
              <a:rPr/>
              <a:t>kein Auto-Push bei kritischen Komponenten, Offline-Verifikation</a:t>
            </a:r>
          </a:p>
          <a:p>
            <a:pPr lvl="0"/>
            <a:r>
              <a:rPr/>
              <a:t>Recovery </a:t>
            </a:r>
            <a:r>
              <a:rPr b="1"/>
              <a:t>unabhängig vom kompromittierten Lieferanten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Resilienz ist das Sicherheitsnetz nach dem Vertrauensbruch</a:t>
            </a:r>
          </a:p>
        </p:txBody>
      </p:sp>
      <p:pic>
        <p:nvPicPr>
          <p:cNvPr descr="assets/supply-chai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24100"/>
            <a:ext cx="5613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Count+Care und die Mainzer Stadtwerke 2022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Juni 2022:</a:t>
            </a:r>
            <a:r>
              <a:rPr/>
              <a:t> Ransomware-Angriff auf Count+Care, den IT-Dienstleister der Entega in Darmstadt</a:t>
            </a:r>
          </a:p>
          <a:p>
            <a:pPr lvl="0"/>
            <a:r>
              <a:rPr/>
              <a:t>Mitbetroffen: </a:t>
            </a:r>
            <a:r>
              <a:rPr b="1"/>
              <a:t>Mainzer Stadtwerke</a:t>
            </a:r>
            <a:r>
              <a:rPr/>
              <a:t> samt Nahverkehr, FES Frankfurt, HEAG, Kommunen in Südhessen</a:t>
            </a:r>
          </a:p>
          <a:p>
            <a:pPr lvl="0"/>
            <a:r>
              <a:rPr/>
              <a:t>Websites und E-Mail-Konten tausender Beschäftigter fallen aus; im Nahverkehr Ausfälle und eingeschränkter Ticketverkauf</a:t>
            </a:r>
          </a:p>
          <a:p>
            <a:pPr lvl="0"/>
            <a:r>
              <a:rPr b="1"/>
              <a:t>Strom, Gas und Wasser laufen weiter</a:t>
            </a:r>
          </a:p>
          <a:p>
            <a:pPr lvl="0"/>
            <a:r>
              <a:rPr/>
              <a:t>Im Juli veröffentlichen die Täter Kundendaten der Entega</a:t>
            </a:r>
          </a:p>
          <a:p>
            <a:pPr lvl="0" indent="0" marL="0">
              <a:buNone/>
            </a:pPr>
            <a:r>
              <a:rPr b="1"/>
              <a:t>Der Angriff traf einen – ausgefallen sind viele.</a:t>
            </a:r>
          </a:p>
        </p:txBody>
      </p:sp>
      <p:pic>
        <p:nvPicPr>
          <p:cNvPr descr="assets/countcare-2022-kund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Kommunikation, wenn die eigene IT schweigt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 die eigene IT verliert, verliert meist auch </a:t>
            </a:r>
            <a:r>
              <a:rPr b="1"/>
              <a:t>E-Mail, Website und Intranet</a:t>
            </a:r>
            <a:r>
              <a:rPr/>
              <a:t>.</a:t>
            </a:r>
          </a:p>
          <a:p>
            <a:pPr lvl="0"/>
            <a:r>
              <a:rPr b="1"/>
              <a:t>Mainzer Stadtwerke 2022:</a:t>
            </a:r>
            <a:r>
              <a:rPr/>
              <a:t> neue Website unter Ersatzdomain und neue Kontakt-Mailadressen innerhalb weniger Tage</a:t>
            </a:r>
          </a:p>
          <a:p>
            <a:pPr lvl="0"/>
            <a:r>
              <a:rPr b="1"/>
              <a:t>Hochschule Mainz 2025:</a:t>
            </a:r>
            <a:r>
              <a:rPr/>
              <a:t> Information über App, Instagram und LinkedIn</a:t>
            </a:r>
          </a:p>
          <a:p>
            <a:pPr lvl="0"/>
            <a:r>
              <a:rPr b="1"/>
              <a:t>AWS 2017:</a:t>
            </a:r>
            <a:r>
              <a:rPr/>
              <a:t> Status über Twitter, weil das Dashboard selbst ausgefallen war</a:t>
            </a:r>
          </a:p>
          <a:p>
            <a:pPr lvl="0" indent="0" marL="0">
              <a:buNone/>
            </a:pPr>
            <a:r>
              <a:rPr b="1"/>
              <a:t>Notkommunikation ist eine Resilienzfähigkeit – sie muss vorbereitet sein, bevor sie gebraucht wird.</a:t>
            </a:r>
          </a:p>
        </p:txBody>
      </p:sp>
      <p:pic>
        <p:nvPicPr>
          <p:cNvPr descr="assets/notkommunika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Framework-Abgleich: Threat → Resilience Capability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Bedrohung entscheidet nicht über das Tool, sondern über das Prinzip.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Resilienzprinzip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Normativer Bezug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Ransomware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Wiederherstellbarkeit, Diversität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HS Mainz 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27031 · BSI 200-4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DDoS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Adaptivität, Diversität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Dyn 2016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DDoS Guidance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RZ-/Dienstleister-Ausfall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Redundanz, Entkopplung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KDZ/KGRZ 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SP 800-160 Vol. 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Diversität, Break-Glass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AD 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CSF · Zero Trust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Failure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Wiederherstellbarkeit, Leitplanken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AWS S3 2017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 · IT-Grundschutz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Supply 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Diversität, 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Count+Care 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Supply Chain Guidance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das Mapping zeigt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Verschiedene Bedrohungen adressieren </a:t>
            </a:r>
            <a:r>
              <a:rPr b="1"/>
              <a:t>dasselbe Prinzip</a:t>
            </a:r>
            <a:r>
              <a:rPr/>
              <a:t> (Ransomware und Human Failure → Recovery).</a:t>
            </a:r>
          </a:p>
          <a:p>
            <a:pPr lvl="0"/>
            <a:r>
              <a:rPr/>
              <a:t>Dasselbe Prinzip wirkt gegen </a:t>
            </a:r>
            <a:r>
              <a:rPr b="1"/>
              <a:t>verschiedene Bedrohungen</a:t>
            </a:r>
            <a:r>
              <a:rPr/>
              <a:t> (Diversität gegen DDoS-Abhängigkeit, Identity-Ausfall und Supply Chain).</a:t>
            </a:r>
          </a:p>
          <a:p>
            <a:pPr lvl="0"/>
            <a:r>
              <a:rPr b="1"/>
              <a:t>Dienstleister und Identität</a:t>
            </a:r>
            <a:r>
              <a:rPr/>
              <a:t> tauchen in fast allen Fällen als gemeinsamer Fehlerpfad auf.</a:t>
            </a:r>
          </a:p>
          <a:p>
            <a:pPr lvl="0"/>
            <a:r>
              <a:rPr/>
              <a:t>Nicht die Bedrohung wird kontrolliert, sondern die Fähigkeit, ihren Effekt zu absorbieren.</a:t>
            </a:r>
          </a:p>
        </p:txBody>
      </p:sp>
      <p:pic>
        <p:nvPicPr>
          <p:cNvPr descr="../../assets/threat-mappin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55800"/>
            <a:ext cx="5613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Threat-to-Resilience-Mapping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Gruppen, 15–20 Minuten. Wählt eine Bedrohung und einen der heutigen Fälle – oder einen eigenen Fall.</a:t>
            </a:r>
          </a:p>
          <a:p>
            <a:pPr lvl="0" indent="-457200" marL="457200">
              <a:buAutoNum type="arabicPeriod"/>
            </a:pPr>
            <a:r>
              <a:rPr b="1"/>
              <a:t>Wirkmechanismus</a:t>
            </a:r>
            <a:r>
              <a:rPr/>
              <a:t> in 1–2 Sätzen beschreiben</a:t>
            </a:r>
          </a:p>
          <a:p>
            <a:pPr lvl="0" indent="-457200" marL="457200">
              <a:buAutoNum type="arabicPeriod"/>
            </a:pPr>
            <a:r>
              <a:rPr b="1"/>
              <a:t>Mindestens zwei Resilienzprinzipien</a:t>
            </a:r>
            <a:r>
              <a:rPr/>
              <a:t> zuordnen und begründen</a:t>
            </a:r>
          </a:p>
          <a:p>
            <a:pPr lvl="0" indent="-457200" marL="457200">
              <a:buAutoNum type="arabicPeriod"/>
            </a:pPr>
            <a:r>
              <a:rPr/>
              <a:t>Je Prinzip </a:t>
            </a:r>
            <a:r>
              <a:rPr b="1"/>
              <a:t>eine konkrete, realistische Maßnahme</a:t>
            </a:r>
            <a:r>
              <a:rPr/>
              <a:t> nennen</a:t>
            </a:r>
          </a:p>
          <a:p>
            <a:pPr lvl="0" indent="-457200" marL="457200">
              <a:buAutoNum type="arabicPeriod"/>
            </a:pPr>
            <a:r>
              <a:rPr b="1"/>
              <a:t>Kurzfazit:</a:t>
            </a:r>
            <a:r>
              <a:rPr/>
              <a:t> resilient, bedingt resilient oder fragil – mit einem Satz Begründung</a:t>
            </a:r>
          </a:p>
          <a:p>
            <a:pPr lvl="0" indent="0" marL="0">
              <a:buNone/>
            </a:pPr>
            <a:r>
              <a:rPr/>
              <a:t>Ergebnis: eine Folie pro Gruppe, höchstens sechs Stichpunkte. Bewertet wird die Schärfe der Zuordnung, nicht die Menge der Maßnahmen.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Raster für die Übung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Raster hält die vier Schritte fest.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Wirkmechanismus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Maßnahme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Fazit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Kernpunkte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</a:t>
            </a:r>
            <a:r>
              <a:rPr b="1"/>
              <a:t>relational</a:t>
            </a:r>
            <a:r>
              <a:rPr/>
              <a:t> – sie bewertet sich immer gegen eine konkrete Bedrohung.</a:t>
            </a:r>
          </a:p>
          <a:p>
            <a:pPr lvl="0"/>
            <a:r>
              <a:rPr/>
              <a:t>Sechs Bedrohungsklassen, unterschieden nach dem </a:t>
            </a:r>
            <a:r>
              <a:rPr b="1"/>
              <a:t>Effekt</a:t>
            </a:r>
            <a:r>
              <a:rPr/>
              <a:t>, nicht nach der Ursache.</a:t>
            </a:r>
          </a:p>
          <a:p>
            <a:pPr lvl="0"/>
            <a:r>
              <a:rPr/>
              <a:t>Nach Ransomware heißt Recovery </a:t>
            </a:r>
            <a:r>
              <a:rPr b="1"/>
              <a:t>Neuaufbau</a:t>
            </a:r>
            <a:r>
              <a:rPr/>
              <a:t> – mit Kernfunktionen zuerst (Hochschule Mainz).</a:t>
            </a:r>
          </a:p>
          <a:p>
            <a:pPr lvl="0"/>
            <a:r>
              <a:rPr b="1"/>
              <a:t>Dienstleister, DNS und Identität</a:t>
            </a:r>
            <a:r>
              <a:rPr/>
              <a:t> sind gemeinsame Fehlerpfade vieler Organisationen (KDZ/KGRZ, Count+Care, Dyn, Azure AD).</a:t>
            </a:r>
          </a:p>
          <a:p>
            <a:pPr lvl="0"/>
            <a:r>
              <a:rPr/>
              <a:t>Vorsorgliches Abschalten und Notkommunikation sind </a:t>
            </a:r>
            <a:r>
              <a:rPr b="1"/>
              <a:t>Resilienzentscheidungen</a:t>
            </a:r>
            <a:r>
              <a:rPr/>
              <a:t>, die vorbereitet sein müssen.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&amp; 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Nächste Sitzung:</a:t>
            </a:r>
            <a:r>
              <a:rPr/>
              <a:t> Resilienz als Organisationsfähigkeit – Rollen, Prozesse, Übungen, Governance</a:t>
            </a:r>
          </a:p>
          <a:p>
            <a:pPr lvl="0" indent="0" marL="0">
              <a:buNone/>
            </a:pPr>
            <a:r>
              <a:rPr b="1"/>
              <a:t>Hausaufgabe:</a:t>
            </a:r>
            <a:r>
              <a:rPr/>
              <a:t> Stellen Sie sich vor, Ihre Organisation (Hochschule, Arbeitgeber, Verein) verliert morgen E-Mail und Website. Über welche Kanäle erfahren die Betroffenen davon – und wer entscheidet, was kommuniziert wird?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Kapitel zum Termin</a:t>
            </a:r>
            <a:r>
              <a:rPr/>
              <a:t> · </a:t>
            </a:r>
            <a:r>
              <a:rPr>
                <a:hlinkClick r:id="rId4"/>
              </a:rPr>
              <a:t>Skript</a:t>
            </a:r>
            <a:r>
              <a:rPr/>
              <a:t> · </a:t>
            </a:r>
            <a:r>
              <a:rPr>
                <a:hlinkClick r:id="rId5"/>
              </a:rPr>
              <a:t>Glossar</a:t>
            </a:r>
            <a:r>
              <a:rPr/>
              <a:t> · </a:t>
            </a:r>
            <a:r>
              <a:rPr>
                <a:hlinkClick r:id="rId6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Cyber-Bedrohungen und Resilienzstrategien</dc:title>
  <dc:creator>Prof. Dr. Dirk Loomans</dc:creator>
  <cp:keywords/>
  <dcterms:created xsi:type="dcterms:W3CDTF">2026-10-23T16:40:25Z</dcterms:created>
  <dcterms:modified xsi:type="dcterms:W3CDTF">2026-10-23T16:40:25Z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4</vt:lpwstr>
  </property>
  <property fmtid="{D5CDD505-2E9C-101B-9397-08002B2CF9AE}" pid="14" name="toc-title">
    <vt:lpwstr>Inhaltsverzeichnis</vt:lpwstr>
  </property>
</Properties>
</file>