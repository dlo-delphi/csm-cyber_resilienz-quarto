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presProps" Target="presProps.xml" /><Relationship Id="rId21" Type="http://schemas.openxmlformats.org/officeDocument/2006/relationships/tableStyles" Target="tableStyles.xml" /><Relationship Id="rId1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7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3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Resilienz-Architekturen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3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letzte Woche</a:t>
            </a:r>
          </a:p>
          <a:p>
            <a:pPr lvl="0"/>
            <a:r>
              <a:rPr/>
              <a:t>Vier zentrale technische Resilienzprinzipien</a:t>
            </a:r>
          </a:p>
          <a:p>
            <a:pPr lvl="0"/>
            <a:r>
              <a:rPr/>
              <a:t>Redundanz: On-Prem vs. Cloud</a:t>
            </a:r>
          </a:p>
          <a:p>
            <a:pPr lvl="0"/>
            <a:r>
              <a:rPr/>
              <a:t>Diversität: Schutz vor Kaskadenfehlern</a:t>
            </a:r>
          </a:p>
          <a:p>
            <a:pPr lvl="0"/>
            <a:r>
              <a:rPr/>
              <a:t>Wiederherstellbarkeit · Adaptivität</a:t>
            </a:r>
          </a:p>
          <a:p>
            <a:pPr lvl="0"/>
            <a:r>
              <a:rPr/>
              <a:t>Hybridvergleich: Was ändert sich wirklich?</a:t>
            </a:r>
          </a:p>
          <a:p>
            <a:pPr lvl="0"/>
            <a:r>
              <a:rPr/>
              <a:t>Häufige Resilienz-Irrtümer in der Praxis</a:t>
            </a:r>
          </a:p>
          <a:p>
            <a:pPr lvl="0"/>
            <a:r>
              <a:rPr/>
              <a:t>Fallbeispiel (Hybrid-Störung)</a:t>
            </a:r>
          </a:p>
          <a:p>
            <a:pPr lvl="0"/>
            <a:r>
              <a:rPr/>
              <a:t>Übung: SPOFs identifizieren &amp; zuordnen</a:t>
            </a:r>
          </a:p>
          <a:p>
            <a:pPr lvl="0"/>
            <a:r>
              <a:rPr/>
              <a:t>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Sitzung 2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messbar (RTO, RPO, MTTR).</a:t>
            </a:r>
          </a:p>
          <a:p>
            <a:pPr lvl="0"/>
            <a:r>
              <a:rPr/>
              <a:t>Normative Orientierung (NIST · ISO/IEC 27031 · BSI 200-4).</a:t>
            </a:r>
          </a:p>
          <a:p>
            <a:pPr lvl="0"/>
            <a:r>
              <a:rPr/>
              <a:t>Hybridwelten erhöhen Komplexität.</a:t>
            </a:r>
          </a:p>
          <a:p>
            <a:pPr lvl="0"/>
            <a:r>
              <a:rPr b="1"/>
              <a:t>Messung allein reicht nicht → Resilienz muss im Design entstehen.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Vier zentrale technische Resilienzprinzipien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Redundanz</a:t>
            </a:r>
            <a:r>
              <a:rPr/>
              <a:t> — keine einzelnen Bruchpunkte</a:t>
            </a:r>
          </a:p>
          <a:p>
            <a:pPr lvl="0" indent="-457200" marL="457200">
              <a:buAutoNum type="arabicPeriod"/>
            </a:pPr>
            <a:r>
              <a:rPr b="1"/>
              <a:t>Diversität</a:t>
            </a:r>
            <a:r>
              <a:rPr/>
              <a:t> — keine gemeinsamen Fehlerquellen</a:t>
            </a:r>
          </a:p>
          <a:p>
            <a:pPr lvl="0" indent="-457200" marL="457200">
              <a:buAutoNum type="arabicPeriod"/>
            </a:pPr>
            <a:r>
              <a:rPr b="1"/>
              <a:t>Wiederherstellbarkeit</a:t>
            </a:r>
            <a:r>
              <a:rPr/>
              <a:t> — geübte, getestete Rückkehrfähigkeit</a:t>
            </a:r>
          </a:p>
          <a:p>
            <a:pPr lvl="0" indent="-457200" marL="457200">
              <a:buAutoNum type="arabicPeriod"/>
            </a:pPr>
            <a:r>
              <a:rPr b="1"/>
              <a:t>Adaptivität</a:t>
            </a:r>
            <a:r>
              <a:rPr/>
              <a:t> — Systeme reagieren dynamisch statt statisch</a:t>
            </a:r>
          </a:p>
          <a:p>
            <a:pPr lvl="0" indent="0" marL="0">
              <a:buNone/>
            </a:pPr>
            <a:r>
              <a:rPr/>
              <a:t>Messgrößen machen Resilienz sichtbar – Prinzipien erzeugen sie im Design.</a:t>
            </a:r>
          </a:p>
        </p:txBody>
      </p:sp>
      <p:pic>
        <p:nvPicPr>
          <p:cNvPr descr="../../assets/vier-prinzipi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75400" y="1841500"/>
            <a:ext cx="5257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Redundanz: On-Prem vs. Cloud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On-Prem</a:t>
            </a:r>
          </a:p>
          <a:p>
            <a:pPr lvl="0"/>
            <a:r>
              <a:rPr/>
              <a:t>Dual Power / USV / redundante Core-Switches</a:t>
            </a:r>
          </a:p>
          <a:p>
            <a:pPr lvl="0"/>
            <a:r>
              <a:rPr/>
              <a:t>Active/Passive Cluster (z. B. SQL AlwaysOn)</a:t>
            </a:r>
          </a:p>
          <a:p>
            <a:pPr lvl="0"/>
            <a:r>
              <a:rPr/>
              <a:t>Zweites RZ (Cold/Warm/Hot Standby)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Cloud</a:t>
            </a:r>
          </a:p>
          <a:p>
            <a:pPr lvl="0"/>
            <a:r>
              <a:rPr/>
              <a:t>Multi-AZ-Deployment</a:t>
            </a:r>
          </a:p>
          <a:p>
            <a:pPr lvl="0"/>
            <a:r>
              <a:rPr/>
              <a:t>Auto-Scaling + Load Balancing</a:t>
            </a:r>
          </a:p>
          <a:p>
            <a:pPr lvl="0"/>
            <a:r>
              <a:rPr/>
              <a:t>Cross-Region-Failover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Grenzen der Redundanz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Zwei USVs im gleichen Brandabschnitt sind Redundanz ohne Isolation.</a:t>
            </a:r>
          </a:p>
          <a:p>
            <a:pPr lvl="0"/>
            <a:r>
              <a:rPr/>
              <a:t>Cloud macht Redundanz kaufbar (OpEx statt CapEx) – aber nicht automatisch vorhanden.</a:t>
            </a:r>
          </a:p>
          <a:p>
            <a:pPr lvl="0"/>
            <a:r>
              <a:rPr/>
              <a:t>Kein Schutz gegen logische Fehler, Ransomware, gemeinsame Abhängigkeiten (zentrales AD) und ungetestete Umschaltung.</a:t>
            </a:r>
          </a:p>
          <a:p>
            <a:pPr lvl="0" indent="0" marL="0">
              <a:buNone/>
            </a:pPr>
            <a:r>
              <a:rPr/>
              <a:t>Redundanz ohne getestete Umschaltung ist nur eine strukturelle Reserve.</a:t>
            </a:r>
          </a:p>
        </p:txBody>
      </p:sp>
      <p:pic>
        <p:nvPicPr>
          <p:cNvPr descr="../../assets/redundanz-iso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108200"/>
            <a:ext cx="56134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Diversität: Schutz vor Kaskadenfehlern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Warum Diversität?</a:t>
            </a:r>
          </a:p>
          <a:p>
            <a:pPr lvl="0"/>
            <a:r>
              <a:rPr/>
              <a:t>Vermeidet Common-Mode-Failure</a:t>
            </a:r>
          </a:p>
          <a:p>
            <a:pPr lvl="0"/>
            <a:r>
              <a:rPr/>
              <a:t>Reduziert Lieferkettenabhängigkeit</a:t>
            </a:r>
          </a:p>
          <a:p>
            <a:pPr lvl="0"/>
            <a:r>
              <a:rPr/>
              <a:t>Bricht Komplexitätskopplungen</a:t>
            </a:r>
          </a:p>
          <a:p>
            <a:pPr lvl="0" indent="0" marL="0">
              <a:buNone/>
            </a:pPr>
            <a:r>
              <a:rPr b="1"/>
              <a:t>Beispiele</a:t>
            </a:r>
          </a:p>
          <a:p>
            <a:pPr lvl="0"/>
            <a:r>
              <a:rPr/>
              <a:t>Multi-Vendor-Firewall-Stack</a:t>
            </a:r>
          </a:p>
          <a:p>
            <a:pPr lvl="0"/>
            <a:r>
              <a:rPr/>
              <a:t>Verschiedene PKI/HSM-Implementierungen</a:t>
            </a:r>
          </a:p>
          <a:p>
            <a:pPr lvl="0"/>
            <a:r>
              <a:rPr/>
              <a:t>Hybrid-Backup statt Single-Cloud-Retention</a:t>
            </a:r>
          </a:p>
        </p:txBody>
      </p:sp>
      <p:pic>
        <p:nvPicPr>
          <p:cNvPr descr="assets/multi-vendor-firewa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45300" y="1841500"/>
            <a:ext cx="43180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Wiederherstellbarkeit (Recovery ≠ Backup)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DR-Tests &gt; DR-Pläne</a:t>
            </a:r>
          </a:p>
          <a:p>
            <a:pPr lvl="0"/>
            <a:r>
              <a:rPr/>
              <a:t>Automatisierte Wiederherstellung (IaC, Snapshots, Runbooks)</a:t>
            </a:r>
          </a:p>
          <a:p>
            <a:pPr lvl="0"/>
            <a:r>
              <a:rPr/>
              <a:t>RTO/RPO sinnvoll, nicht maximal</a:t>
            </a:r>
          </a:p>
          <a:p>
            <a:pPr lvl="0"/>
            <a:r>
              <a:rPr b="1"/>
              <a:t>Backup ohne Restore-Test = Illusion</a:t>
            </a:r>
          </a:p>
          <a:p>
            <a:pPr lvl="0" indent="0" marL="0">
              <a:buNone/>
            </a:pPr>
            <a:r>
              <a:rPr/>
              <a:t>Ein Backup ist ein Zustand, Recovery ein Prozess mit Zeit- und Qualitätszielen.</a:t>
            </a:r>
          </a:p>
        </p:txBody>
      </p:sp>
      <p:pic>
        <p:nvPicPr>
          <p:cNvPr descr="assets/backup-carto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15200" y="1841500"/>
            <a:ext cx="33655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Adaptivität: Dynamische Resilienz statt starrer Stabilität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Auto-Scaling statt fester Kapazität</a:t>
            </a:r>
          </a:p>
          <a:p>
            <a:pPr lvl="0"/>
            <a:r>
              <a:rPr/>
              <a:t>Graceful Degradation (nicht alles oder nichts)</a:t>
            </a:r>
          </a:p>
          <a:p>
            <a:pPr lvl="0"/>
            <a:r>
              <a:rPr/>
              <a:t>Feature Flags / Canary Releases</a:t>
            </a:r>
          </a:p>
          <a:p>
            <a:pPr lvl="0"/>
            <a:r>
              <a:rPr/>
              <a:t>Chaos Engineering als Testmethode</a:t>
            </a:r>
          </a:p>
          <a:p>
            <a:pPr lvl="0" indent="0" marL="0">
              <a:buNone/>
            </a:pPr>
            <a:r>
              <a:rPr/>
              <a:t>Adaptivität ist ein Multiplikator, kein Ersatz für Redundanz und Diversität.</a:t>
            </a:r>
          </a:p>
        </p:txBody>
      </p:sp>
      <p:pic>
        <p:nvPicPr>
          <p:cNvPr descr="assets/chaos-monkey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Hybridvergleich: Was ändert sich wirklich?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 erhöht den Suchraum der Fragilität – und den Werkzeugkasten der Resilienz.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Kriterium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On-Prem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Redundanz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Hardware-Duplikation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Region/AZ-Abstraktion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Diversität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manuell geplant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Provider oder Multi-Cloud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Runbooks + Menschen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IaC + Automatisierung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Adaptivität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begrenzt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 (Scaling, Traffic-Shift)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Hybrid-SPOFs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Identity-Systeme (AD/IdP) als globaler Fail-Knopf</a:t>
            </a:r>
          </a:p>
          <a:p>
            <a:pPr lvl="0"/>
            <a:r>
              <a:rPr/>
              <a:t>Netzwerk-Transit (VPN/SD-WAN) als Engpass</a:t>
            </a:r>
          </a:p>
          <a:p>
            <a:pPr lvl="0"/>
            <a:r>
              <a:rPr/>
              <a:t>Zentrale Orchestrierung, CI/CD als Single Control Layer</a:t>
            </a:r>
          </a:p>
          <a:p>
            <a:pPr lvl="0"/>
            <a:r>
              <a:rPr/>
              <a:t>Echtzeit-Datenkopplung mit engen Synchronisationszwängen</a:t>
            </a:r>
          </a:p>
          <a:p>
            <a:pPr lvl="0" indent="0" marL="0">
              <a:buNone/>
            </a:pPr>
            <a:r>
              <a:rPr/>
              <a:t>Funktional verteilt, aber steuerungstechnisch monolithisch = fragil.</a:t>
            </a:r>
          </a:p>
        </p:txBody>
      </p:sp>
      <p:pic>
        <p:nvPicPr>
          <p:cNvPr descr="../../assets/hybrid-spo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8900" y="1841500"/>
            <a:ext cx="5130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Häufige Resilienz-Irrtümer in der Praxis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„Wir sind in der Cloud, also sicher.“</a:t>
            </a:r>
          </a:p>
          <a:p>
            <a:pPr lvl="0"/>
            <a:r>
              <a:rPr/>
              <a:t>„Backup = Resilienz.“</a:t>
            </a:r>
          </a:p>
          <a:p>
            <a:pPr lvl="0"/>
            <a:r>
              <a:rPr/>
              <a:t>„Cluster = Disaster Recovery.“</a:t>
            </a:r>
          </a:p>
          <a:p>
            <a:pPr lvl="0"/>
            <a:r>
              <a:rPr/>
              <a:t>„Nie getestet, aber dokumentiert.“</a:t>
            </a:r>
          </a:p>
          <a:p>
            <a:pPr lvl="0"/>
            <a:r>
              <a:rPr/>
              <a:t>„Single-Cloud ≠ Multi-Region verstanden.“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 (Hybrid-Störung)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Szenario:</a:t>
            </a:r>
            <a:r>
              <a:rPr/>
              <a:t> ERP läuft On-Prem · Reporting &amp; Analytics laufen in der Cloud</a:t>
            </a:r>
          </a:p>
          <a:p>
            <a:pPr lvl="0" indent="0" marL="0">
              <a:buNone/>
            </a:pPr>
            <a:r>
              <a:rPr b="1"/>
              <a:t>Vorfall:</a:t>
            </a:r>
            <a:r>
              <a:rPr/>
              <a:t> AD-Domain-Controller On-Prem durch Ransomware kompromittiert</a:t>
            </a:r>
          </a:p>
          <a:p>
            <a:pPr lvl="0" indent="0" marL="0">
              <a:buNone/>
            </a:pPr>
            <a:r>
              <a:rPr b="1"/>
              <a:t>Folgen:</a:t>
            </a:r>
            <a:r>
              <a:rPr/>
              <a:t> Cloud-Analytics weiterhin technisch verfügbar – aber kein Login möglich</a:t>
            </a:r>
          </a:p>
          <a:p>
            <a:pPr lvl="0"/>
            <a:r>
              <a:rPr/>
              <a:t>Was bleibt funktional und warum?</a:t>
            </a:r>
          </a:p>
          <a:p>
            <a:pPr lvl="0"/>
            <a:r>
              <a:rPr/>
              <a:t>Wo sitzt der eigentliche SPOF?</a:t>
            </a:r>
          </a:p>
          <a:p>
            <a:pPr lvl="0"/>
            <a:r>
              <a:rPr/>
              <a:t>Welche Maßnahme hätte die Resilienz verbessert?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SPOFs identifizieren &amp; zuordnen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Gruppen, 15–20 Minuten. Wählt ein reales IT-System (Mail, Banking-App, Cloud-Drive, Smart Home).</a:t>
            </a:r>
          </a:p>
          <a:p>
            <a:pPr lvl="0" indent="-457200" marL="457200">
              <a:buAutoNum type="arabicPeriod"/>
            </a:pPr>
            <a:r>
              <a:rPr/>
              <a:t>Identifiziert mindestens drei Single Points of Failure.</a:t>
            </a:r>
          </a:p>
          <a:p>
            <a:pPr lvl="0" indent="-457200" marL="457200">
              <a:buAutoNum type="arabicPeriod"/>
            </a:pPr>
            <a:r>
              <a:rPr/>
              <a:t>Ordnet jeden SPOF einem Prinzip zu (Redundanz / Diversität / Recovery / Adaptivität).</a:t>
            </a:r>
          </a:p>
          <a:p>
            <a:pPr lvl="0" indent="-457200" marL="457200">
              <a:buAutoNum type="arabicPeriod"/>
            </a:pPr>
            <a:r>
              <a:rPr/>
              <a:t>Gebt pro SPOF eine realistische Resilienzmaßnahme an.</a:t>
            </a:r>
          </a:p>
          <a:p>
            <a:pPr lvl="0" indent="0" marL="0">
              <a:buNone/>
            </a:pPr>
            <a:r>
              <a:rPr/>
              <a:t>Abgabe: eine Folie oder ein 5-Punkte-Statement pro Gruppe.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 &amp; Ausblick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Merksätze</a:t>
            </a:r>
          </a:p>
          <a:p>
            <a:pPr lvl="0"/>
            <a:r>
              <a:rPr/>
              <a:t>Resilienz entsteht im Design, nicht im Incident.</a:t>
            </a:r>
          </a:p>
          <a:p>
            <a:pPr lvl="0"/>
            <a:r>
              <a:rPr/>
              <a:t>Redundanz + Diversität + Recovery + Adaptivität = technischer Kern.</a:t>
            </a:r>
          </a:p>
          <a:p>
            <a:pPr lvl="0"/>
            <a:r>
              <a:rPr/>
              <a:t>Hybrid erhöht Chancen und Risiken.</a:t>
            </a:r>
          </a:p>
          <a:p>
            <a:pPr lvl="0"/>
            <a:r>
              <a:rPr/>
              <a:t>Fähigkeit &gt; Dokumentation.</a:t>
            </a:r>
          </a:p>
          <a:p>
            <a:pPr lvl="0" indent="0" marL="0">
              <a:buNone/>
            </a:pPr>
            <a:r>
              <a:rPr b="1"/>
              <a:t>Ausblick Sitzung 4:</a:t>
            </a:r>
            <a:r>
              <a:rPr/>
              <a:t> Bedrohungen &amp; Resilienzstrategien – Mapping von Angriffen auf Widerstands- und Recovery-Muster.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Resilienz-Architekturen</dc:title>
  <dc:creator>Prof. Dr. Dirk Loomans</dc:creator>
  <cp:keywords/>
  <dcterms:created xsi:type="dcterms:W3CDTF">2026-10-04T13:27:02Z</dcterms:created>
  <dcterms:modified xsi:type="dcterms:W3CDTF">2026-10-04T13:27:02Z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3</vt:lpwstr>
  </property>
  <property fmtid="{D5CDD505-2E9C-101B-9397-08002B2CF9AE}" pid="14" name="toc-title">
    <vt:lpwstr>Inhaltsverzeichnis</vt:lpwstr>
  </property>
</Properties>
</file>