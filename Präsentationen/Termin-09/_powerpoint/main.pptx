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4" Type="http://schemas.openxmlformats.org/officeDocument/2006/relationships/tableStyles" Target="tableStyles.xml" /><Relationship Id="rId22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Folien des Referenten sind nicht Teil dieses Projekts und werden separat bereitgestellt. Auf den Archivfolien stand die Schreibweise „Groenenwald“.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image" Target="../media/image2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hyperlink" Target="https://gandalf.lakera.ai" TargetMode="External" /><Relationship Id="rId3" Type="http://schemas.openxmlformats.org/officeDocument/2006/relationships/image" Target="../media/image27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9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Sonderthemen zu Resilienz: OT und KI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9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</a:t>
            </a:r>
          </a:p>
          <a:p>
            <a:pPr lvl="0"/>
            <a:r>
              <a:rPr/>
              <a:t>Gastvortrag Thomas Gronenwald (KPMG): Product &amp; Production Security (OT)</a:t>
            </a:r>
          </a:p>
          <a:p>
            <a:pPr lvl="0"/>
            <a:r>
              <a:rPr/>
              <a:t>OT-Resilienz im Überblick</a:t>
            </a:r>
          </a:p>
          <a:p>
            <a:pPr lvl="0"/>
            <a:r>
              <a:rPr/>
              <a:t>KI-Resilienz</a:t>
            </a:r>
          </a:p>
          <a:p>
            <a:pPr lvl="1"/>
            <a:r>
              <a:rPr/>
              <a:t>Bedrohungen für KI-Systeme</a:t>
            </a:r>
          </a:p>
          <a:p>
            <a:pPr lvl="1"/>
            <a:r>
              <a:rPr/>
              <a:t>Prinzipien der KI-Resilienz</a:t>
            </a:r>
          </a:p>
          <a:p>
            <a:pPr lvl="1"/>
            <a:r>
              <a:rPr/>
              <a:t>Resilienz gegen Daten-Poisoning</a:t>
            </a:r>
          </a:p>
          <a:p>
            <a:pPr lvl="1"/>
            <a:r>
              <a:rPr/>
              <a:t>Wallet DoS – Schutz vor finanziellen API-Angriffen</a:t>
            </a:r>
          </a:p>
          <a:p>
            <a:pPr lvl="0"/>
            <a:r>
              <a:rPr/>
              <a:t>Übung Gandalf AI</a:t>
            </a:r>
          </a:p>
          <a:p>
            <a:pPr lvl="0"/>
            <a:r>
              <a:rPr/>
              <a:t>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Gastvortrag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Thomas Gronenwald</a:t>
            </a:r>
            <a:r>
              <a:rPr/>
              <a:t>, Partner, Head of Product &amp; Production Security, KPMG</a:t>
            </a:r>
          </a:p>
          <a:p>
            <a:pPr lvl="0" indent="0" marL="0">
              <a:buNone/>
            </a:pPr>
            <a:r>
              <a:rPr/>
              <a:t>War Stories aus der Praxis: Product &amp; Production Security (OT)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OT?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Operational Technology steuert physische Prozesse: Produktion, Energie, Wasser, Verkehr, Medizintechnik, Gebäudetechnik.</a:t>
            </a:r>
          </a:p>
          <a:p>
            <a:pPr lvl="0"/>
            <a:r>
              <a:rPr/>
              <a:t>IT verarbeitet Daten – OT bewegt Roboter, öffnet Ventile, schaltet Signale.</a:t>
            </a:r>
          </a:p>
          <a:p>
            <a:pPr lvl="0"/>
            <a:r>
              <a:rPr/>
              <a:t>IT/OT-Konvergenz: früher getrennte Netze sind heute über Fernwartung, IIoT und Cloud vernetzt.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vs. OT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 Sicherheitsupdate, das eine Maschine sekundenlang stoppt, kann gefährlicher sein als eine bekannte Schwachstelle.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Prioritäten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Confidentiality – Integrity – Availability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 – Availability – Integrity – Confidentiality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Lebensdauer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3–5 Jahre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10–30 Jahre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Wartungsfenster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häufig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selten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Philosophie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„Patch early“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„Change as little as possible“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Echtzeit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Verzögerung tolerierbar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Millisekunden zählen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– Security – Resilience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Safety:</a:t>
            </a:r>
            <a:r>
              <a:rPr/>
              <a:t> Schutz von Menschen und Umwelt vor Fehlfunktionen</a:t>
            </a:r>
          </a:p>
          <a:p>
            <a:pPr lvl="0"/>
            <a:r>
              <a:rPr b="1"/>
              <a:t>Security:</a:t>
            </a:r>
            <a:r>
              <a:rPr/>
              <a:t> Schutz vor Cyberangriffen und Manipulation</a:t>
            </a:r>
          </a:p>
          <a:p>
            <a:pPr lvl="0"/>
            <a:r>
              <a:rPr b="1"/>
              <a:t>Resilience:</a:t>
            </a:r>
            <a:r>
              <a:rPr/>
              <a:t> Weiterarbeiten oder schnelle Erholung</a:t>
            </a:r>
          </a:p>
          <a:p>
            <a:pPr lvl="0" indent="0" marL="0">
              <a:buNone/>
            </a:pPr>
            <a:r>
              <a:rPr/>
              <a:t>Safety darf durch Security nicht gefährdet werden. OT-Resilienz = Schutz ohne Beeinträchtigung des physischen Betriebs.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Purdue-Modell (ISA-95)</a:t>
            </a:r>
          </a:p>
        </p:txBody>
      </p:sp>
      <p:pic>
        <p:nvPicPr>
          <p:cNvPr descr="../../assets/purdue-mode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841500"/>
            <a:ext cx="69977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Bedrohungen in OT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Ransomware in der IT macht OT unbedienbar (HMIs, Engineering-Workstations, MES)</a:t>
            </a:r>
          </a:p>
          <a:p>
            <a:pPr lvl="0"/>
            <a:r>
              <a:rPr/>
              <a:t>Supply Chain: manipulierte Firmware, infizierte Wartungslaptops (Stuxnet)</a:t>
            </a:r>
          </a:p>
          <a:p>
            <a:pPr lvl="0"/>
            <a:r>
              <a:rPr/>
              <a:t>Fernwartungszugänge mit Standardpasswörtern</a:t>
            </a:r>
          </a:p>
          <a:p>
            <a:pPr lvl="0"/>
            <a:r>
              <a:rPr/>
              <a:t>Manipulation von Steuerlogik und Safety-Systemen (Triton/Trisis)</a:t>
            </a:r>
          </a:p>
          <a:p>
            <a:pPr lvl="0"/>
            <a:r>
              <a:rPr/>
              <a:t>IT→OT-Pfad: Colonial Pipeline 2021 – Angriff in der IT, OT vorsorglich gestoppt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OT-Resilienzmaßnahmen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Segmentierung nach Zonen &amp; Conduits (IEC 62443)</a:t>
            </a:r>
          </a:p>
          <a:p>
            <a:pPr lvl="0"/>
            <a:r>
              <a:rPr/>
              <a:t>Jump Hosts, MFA, zeitlich begrenzte Wartungsfenster statt Dauer-VPN</a:t>
            </a:r>
          </a:p>
          <a:p>
            <a:pPr lvl="0"/>
            <a:r>
              <a:rPr/>
              <a:t>Passives OT-Monitoring, Integritätsprüfung von PLC-Programmen</a:t>
            </a:r>
          </a:p>
          <a:p>
            <a:pPr lvl="0"/>
            <a:r>
              <a:rPr/>
              <a:t>Patchen nach Test und Risikoabwägung, kompensierende Maßnahmen</a:t>
            </a:r>
          </a:p>
          <a:p>
            <a:pPr lvl="0"/>
            <a:r>
              <a:rPr/>
              <a:t>Offline-Backups von PLC-, SCADA-, HMI- und Safety-Konfigurationen</a:t>
            </a:r>
          </a:p>
          <a:p>
            <a:pPr lvl="0"/>
            <a:r>
              <a:rPr/>
              <a:t>Wiederanlauf planen: Cold, Warm, Hot Start – Wiedereinschalten ist riskanter als Abschalten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KI-Resilienz – bekannte Prinzipien in einem neuen Umfeld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Warum Resilienz auch für KI wichtig ist: KI schafft neue Abhängigkeiten; ein Neustart behebt manipulierte Daten nicht.</a:t>
            </a:r>
          </a:p>
          <a:p>
            <a:pPr lvl="0"/>
            <a:r>
              <a:rPr/>
              <a:t>Herausforderungen: Daten- und Prompt-Poisoning, Verfügbarkeit, Bias</a:t>
            </a:r>
          </a:p>
          <a:p>
            <a:pPr lvl="0"/>
            <a:r>
              <a:rPr/>
              <a:t>Ziel der Einheit: verstehen, wie wir KI-Systeme resilienter machen können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Bedrohungen für KI-Systeme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Daten-Poisoning:</a:t>
            </a:r>
            <a:r>
              <a:rPr/>
              <a:t> Manipulation der Trainingsdaten</a:t>
            </a:r>
          </a:p>
          <a:p>
            <a:pPr lvl="0"/>
            <a:r>
              <a:rPr b="1"/>
              <a:t>Prompt-Poisoning:</a:t>
            </a:r>
            <a:r>
              <a:rPr/>
              <a:t> Beeinflussung von Eingabeaufforderungen bei generativen Modellen</a:t>
            </a:r>
          </a:p>
          <a:p>
            <a:pPr lvl="0"/>
            <a:r>
              <a:rPr b="1"/>
              <a:t>Bias und Fairness-Probleme:</a:t>
            </a:r>
            <a:r>
              <a:rPr/>
              <a:t> verzerrte Ergebnisse durch einseitige Daten</a:t>
            </a:r>
          </a:p>
          <a:p>
            <a:pPr lvl="0"/>
            <a:r>
              <a:rPr b="1"/>
              <a:t>Verfügbarkeitsangriffe:</a:t>
            </a:r>
            <a:r>
              <a:rPr/>
              <a:t> DDoS auf KI-basierte Dienste</a:t>
            </a:r>
          </a:p>
          <a:p>
            <a:pPr lvl="0"/>
            <a:r>
              <a:rPr b="1"/>
              <a:t>Model Drift:</a:t>
            </a:r>
            <a:r>
              <a:rPr/>
              <a:t> schleichende Veränderung der Datenmuster</a:t>
            </a:r>
          </a:p>
          <a:p>
            <a:pPr lvl="0"/>
            <a:r>
              <a:rPr b="1"/>
              <a:t>Wallet DoS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Prinzipien der KI-Resilienz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Verifikation und Validierung:</a:t>
            </a:r>
            <a:r>
              <a:rPr/>
              <a:t> stetige Überprüfung der Trainingsdaten und Modelle</a:t>
            </a:r>
          </a:p>
          <a:p>
            <a:pPr lvl="0"/>
            <a:r>
              <a:rPr b="1"/>
              <a:t>Redundanz und Diversität:</a:t>
            </a:r>
            <a:r>
              <a:rPr/>
              <a:t> unterschiedliche Modelle und Datenquellen</a:t>
            </a:r>
          </a:p>
          <a:p>
            <a:pPr lvl="0"/>
            <a:r>
              <a:rPr b="1"/>
              <a:t>Transparenz:</a:t>
            </a:r>
            <a:r>
              <a:rPr/>
              <a:t> nachvollziehbare Entscheidungswege</a:t>
            </a:r>
          </a:p>
          <a:p>
            <a:pPr lvl="0"/>
            <a:r>
              <a:rPr b="1"/>
              <a:t>Adversarial Testing:</a:t>
            </a:r>
            <a:r>
              <a:rPr/>
              <a:t> gezielte Angriffe simulieren</a:t>
            </a:r>
          </a:p>
          <a:p>
            <a:pPr lvl="0"/>
            <a:r>
              <a:rPr b="1"/>
              <a:t>Kontinuierliches Monitoring:</a:t>
            </a:r>
            <a:r>
              <a:rPr/>
              <a:t> Ausgaben beobachten, Anomalien und Verzerrungen früh erkennen</a:t>
            </a:r>
          </a:p>
          <a:p>
            <a:pPr lvl="0"/>
            <a:r>
              <a:rPr b="1"/>
              <a:t>Bias-Reduktion</a:t>
            </a:r>
            <a:r>
              <a:rPr/>
              <a:t> · </a:t>
            </a:r>
            <a:r>
              <a:rPr b="1"/>
              <a:t>Human in the Loop</a:t>
            </a:r>
            <a:r>
              <a:rPr/>
              <a:t> · </a:t>
            </a:r>
            <a:r>
              <a:rPr b="1"/>
              <a:t>Recovery</a:t>
            </a:r>
            <a:r>
              <a:rPr/>
              <a:t> auf definierte Modellzustände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 – Resilienz gegen Daten-Poisoning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Wie kann ein Angreifer Trainingsdaten manipulieren?</a:t>
            </a:r>
          </a:p>
          <a:p>
            <a:pPr lvl="0"/>
            <a:r>
              <a:rPr/>
              <a:t>Maßnahmen: Datenvalidierung, robuste Algorithmen, regelmäßige Audits</a:t>
            </a:r>
          </a:p>
          <a:p>
            <a:pPr lvl="0" indent="0" marL="0">
              <a:buNone/>
            </a:pPr>
            <a:r>
              <a:rPr/>
              <a:t>OT-Beispiel: Manipulierte Vibrationsdaten → KI erkennt keinen Lagerschaden → Totalausfall.</a:t>
            </a:r>
          </a:p>
        </p:txBody>
      </p:sp>
      <p:pic>
        <p:nvPicPr>
          <p:cNvPr descr="assets/daten-poison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514600"/>
            <a:ext cx="5613400" cy="289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Wallet DoS – Schutz vor finanziellen API-Angriffen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Was ist Wallet DoS?</a:t>
            </a:r>
            <a:r>
              <a:rPr/>
              <a:t> Ein Angriff, bei dem durch übermäßige API-Nutzung Credits oder Guthaben eines Dienstanbieters aufgebraucht werden.</a:t>
            </a:r>
          </a:p>
          <a:p>
            <a:pPr lvl="0" indent="0" marL="0">
              <a:buNone/>
            </a:pPr>
            <a:r>
              <a:rPr b="1"/>
              <a:t>Risiko:</a:t>
            </a:r>
            <a:r>
              <a:rPr/>
              <a:t> nicht nur technischer, sondern auch finanzieller Schaden für den Betreiber.</a:t>
            </a:r>
          </a:p>
          <a:p>
            <a:pPr lvl="0" indent="0" marL="0">
              <a:buNone/>
            </a:pPr>
            <a:r>
              <a:rPr b="1"/>
              <a:t>Gegenmaßnahmen</a:t>
            </a:r>
          </a:p>
          <a:p>
            <a:pPr lvl="0"/>
            <a:r>
              <a:rPr/>
              <a:t>mandantenspezifische API-Schlüssel</a:t>
            </a:r>
          </a:p>
          <a:p>
            <a:pPr lvl="0"/>
            <a:r>
              <a:rPr/>
              <a:t>Rate Limits und Monitoring pro Mandant</a:t>
            </a:r>
          </a:p>
          <a:p>
            <a:pPr lvl="0"/>
            <a:r>
              <a:rPr/>
              <a:t>separate Budgets pro Mandant</a:t>
            </a:r>
          </a:p>
        </p:txBody>
      </p:sp>
      <p:pic>
        <p:nvPicPr>
          <p:cNvPr descr="../../assets/wallet-d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603500"/>
            <a:ext cx="5613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Zusammenfassung: Reifegrad der KI-Governance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Ad-hoc-Governance</a:t>
            </a:r>
          </a:p>
          <a:p>
            <a:pPr lvl="0" indent="-457200" marL="457200">
              <a:buAutoNum type="arabicPeriod"/>
            </a:pPr>
            <a:r>
              <a:rPr/>
              <a:t>Grundlegende Strukturen und Prozesse etablieren</a:t>
            </a:r>
          </a:p>
          <a:p>
            <a:pPr lvl="0" indent="-457200" marL="457200">
              <a:buAutoNum type="arabicPeriod"/>
            </a:pPr>
            <a:r>
              <a:rPr/>
              <a:t>Über die Grundlagen hinausgehen</a:t>
            </a:r>
          </a:p>
          <a:p>
            <a:pPr lvl="0" indent="-457200" marL="457200">
              <a:buAutoNum type="arabicPeriod"/>
            </a:pPr>
            <a:r>
              <a:rPr/>
              <a:t>Erweitern und reifen</a:t>
            </a:r>
          </a:p>
          <a:p>
            <a:pPr lvl="0" indent="-457200" marL="457200">
              <a:buAutoNum type="arabicPeriod"/>
            </a:pPr>
            <a:r>
              <a:rPr/>
              <a:t>Eingebettete und einflussreiche Governance</a:t>
            </a:r>
          </a:p>
          <a:p>
            <a:pPr lvl="0" indent="0" marL="0">
              <a:buNone/>
            </a:pPr>
            <a:r>
              <a:rPr/>
              <a:t>„Resilienz ist die neue Vertrauenswährung der KI-Welt.“</a:t>
            </a:r>
          </a:p>
        </p:txBody>
      </p:sp>
      <p:pic>
        <p:nvPicPr>
          <p:cNvPr descr="assets/ki-governance-reif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654300"/>
            <a:ext cx="56134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Gandalf AI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gandalf.lakera.ai</a:t>
            </a:r>
          </a:p>
          <a:p>
            <a:pPr lvl="0" indent="0" marL="0">
              <a:buNone/>
            </a:pPr>
            <a:r>
              <a:rPr/>
              <a:t>Entlockt dem Modell über mehrere Level ein geschütztes Passwort.</a:t>
            </a:r>
          </a:p>
          <a:p>
            <a:pPr lvl="0"/>
            <a:r>
              <a:rPr/>
              <a:t>Welche Abwehrmechanismen erkennt ihr?</a:t>
            </a:r>
          </a:p>
          <a:p>
            <a:pPr lvl="0"/>
            <a:r>
              <a:rPr/>
              <a:t>Was bedeutet das für Prompt-Poisoning und die Resilienz von KI-Anwendungen?</a:t>
            </a:r>
          </a:p>
        </p:txBody>
      </p:sp>
      <p:pic>
        <p:nvPicPr>
          <p:cNvPr descr="assets/gandalf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819400"/>
            <a:ext cx="5613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auf Sitzung 10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Resilienz der Zukunft</a:t>
            </a:r>
          </a:p>
          <a:p>
            <a:pPr lvl="0"/>
            <a:r>
              <a:rPr/>
              <a:t>Quantencomputing – wenn Vertrauen rückwirkend bricht</a:t>
            </a:r>
          </a:p>
          <a:p>
            <a:pPr lvl="0"/>
            <a:r>
              <a:rPr/>
              <a:t>Autonome Systeme – wenn Systeme selbst reagieren</a:t>
            </a:r>
          </a:p>
          <a:p>
            <a:pPr lvl="0"/>
            <a:r>
              <a:rPr/>
              <a:t>Gesellschaft &amp; Ethik – wenn niemand allein verantwortlich ist</a:t>
            </a:r>
          </a:p>
          <a:p>
            <a:pPr lvl="0"/>
            <a:r>
              <a:rPr/>
              <a:t>Übung: Resilienz im Jahr 2035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Sonderthemen zu Resilienz: OT und KI</dc:title>
  <dc:creator>Prof. Dr. Dirk Loomans</dc:creator>
  <cp:keywords/>
  <dcterms:created xsi:type="dcterms:W3CDTF">2026-10-04T13:26:34Z</dcterms:created>
  <dcterms:modified xsi:type="dcterms:W3CDTF">2026-10-04T13:26:34Z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9</vt:lpwstr>
  </property>
  <property fmtid="{D5CDD505-2E9C-101B-9397-08002B2CF9AE}" pid="14" name="toc-title">
    <vt:lpwstr>Inhaltsverzeichnis</vt:lpwstr>
  </property>
</Properties>
</file>