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8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Technische Resilienz II: Zero Trust, Microsegmentation, Cloud Resilience &amp; Network Design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8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Lernziele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Microsegmentation</a:t>
            </a:r>
          </a:p>
          <a:p>
            <a:pPr lvl="0"/>
            <a:r>
              <a:rPr/>
              <a:t>Cloud Resilience</a:t>
            </a:r>
          </a:p>
          <a:p>
            <a:pPr lvl="0"/>
            <a:r>
              <a:rPr/>
              <a:t>Network Design</a:t>
            </a:r>
          </a:p>
          <a:p>
            <a:pPr lvl="0"/>
            <a:r>
              <a:rPr/>
              <a:t>Integration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Einstieg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Von Wiederherstellung zu Widerstandsfähigkeit</a:t>
            </a:r>
          </a:p>
          <a:p>
            <a:pPr lvl="0"/>
            <a:r>
              <a:rPr/>
              <a:t>Resilienz ≠ nur Backups</a:t>
            </a:r>
          </a:p>
          <a:p>
            <a:pPr lvl="0"/>
            <a:r>
              <a:rPr/>
              <a:t>Architektur als Schutzmechanismus</a:t>
            </a:r>
          </a:p>
          <a:p>
            <a:pPr lvl="0"/>
            <a:r>
              <a:rPr/>
              <a:t>Fokus heute: präventive technische Resilienz – Schaden begrenzen, bevor er entsteht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 Trust verstehen &amp; anwenden</a:t>
            </a:r>
          </a:p>
          <a:p>
            <a:pPr lvl="0"/>
            <a:r>
              <a:rPr/>
              <a:t>Laterale Bewegungen verhindern</a:t>
            </a:r>
          </a:p>
          <a:p>
            <a:pPr lvl="0"/>
            <a:r>
              <a:rPr/>
              <a:t>Cloud-Strukturen resilient gestalten</a:t>
            </a:r>
          </a:p>
          <a:p>
            <a:pPr lvl="0"/>
            <a:r>
              <a:rPr/>
              <a:t>Netzarchitektur als Resilienzinstrument nutzen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Zero Trust?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„Never trust — always verify“</a:t>
            </a:r>
          </a:p>
          <a:p>
            <a:pPr lvl="0"/>
            <a:r>
              <a:rPr/>
              <a:t>Identität statt Netzwerkstandort</a:t>
            </a:r>
          </a:p>
          <a:p>
            <a:pPr lvl="0"/>
            <a:r>
              <a:rPr/>
              <a:t>Assume Breach</a:t>
            </a:r>
          </a:p>
          <a:p>
            <a:pPr lvl="0" indent="0" marL="0">
              <a:buNone/>
            </a:pPr>
            <a:r>
              <a:rPr/>
              <a:t>Der Perimeter existiert nicht mehr – Cloud, Homeoffice, SaaS und gestohlene Credentials haben ihn aufgelöst. Jeder Zugriff wird explizit, kontextabhängig und fortlaufend autorisiert.</a:t>
            </a:r>
          </a:p>
        </p:txBody>
      </p:sp>
      <p:pic>
        <p:nvPicPr>
          <p:cNvPr descr="assets/zero-trust-bur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Säulen des Zero Trust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Least Privilege</a:t>
            </a:r>
          </a:p>
          <a:p>
            <a:pPr lvl="0"/>
            <a:r>
              <a:rPr/>
              <a:t>MFA &amp; starke Identitäten</a:t>
            </a:r>
          </a:p>
          <a:p>
            <a:pPr lvl="0"/>
            <a:r>
              <a:rPr/>
              <a:t>Continuous Authentication &amp; Authorization</a:t>
            </a:r>
          </a:p>
          <a:p>
            <a:pPr lvl="0"/>
            <a:r>
              <a:rPr/>
              <a:t>Geräte- und Workload-Vertrauen (Patchstand, Integrität, Zertifikate)</a:t>
            </a:r>
          </a:p>
          <a:p>
            <a:pPr lvl="0"/>
            <a:r>
              <a:rPr/>
              <a:t>Datenflusskontrolle &amp; Telemetrie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Zero Trust resilient macht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begrenzt Angriffsfläche</a:t>
            </a:r>
          </a:p>
          <a:p>
            <a:pPr lvl="0"/>
            <a:r>
              <a:rPr/>
              <a:t>verhindert Eskalation</a:t>
            </a:r>
          </a:p>
          <a:p>
            <a:pPr lvl="0"/>
            <a:r>
              <a:rPr/>
              <a:t>reduziert Kompromittierungsfolgen</a:t>
            </a:r>
          </a:p>
          <a:p>
            <a:pPr lvl="0"/>
            <a:r>
              <a:rPr/>
              <a:t>unterstützt schnelle Recovery</a:t>
            </a:r>
          </a:p>
          <a:p>
            <a:pPr lvl="0" indent="0" marL="0">
              <a:buNone/>
            </a:pPr>
            <a:r>
              <a:rPr/>
              <a:t>Zero Trust reduziert nicht die Wahrscheinlichkeit eines Angriffs, sondern die maximale Schadenswirkung. Zero Trust ist kein Produkt, sondern ein Architekturprinzip.</a:t>
            </a:r>
          </a:p>
        </p:txBody>
      </p:sp>
      <p:pic>
        <p:nvPicPr>
          <p:cNvPr descr="../../assets/zero-trust-verglei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476500"/>
            <a:ext cx="5613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Microsegmentation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</a:t>
            </a:r>
          </a:p>
          <a:p>
            <a:pPr lvl="0"/>
            <a:r>
              <a:rPr/>
              <a:t>Sicherheitszonen auf Workload-Ebene</a:t>
            </a:r>
          </a:p>
          <a:p>
            <a:pPr lvl="0"/>
            <a:r>
              <a:rPr/>
              <a:t>nicht nur VLANs oder Firewalls</a:t>
            </a:r>
          </a:p>
          <a:p>
            <a:pPr lvl="0"/>
            <a:r>
              <a:rPr/>
              <a:t>Software-defined statt physisch</a:t>
            </a:r>
          </a:p>
          <a:p>
            <a:pPr lvl="0" indent="0" marL="0">
              <a:buNone/>
            </a:pPr>
            <a:r>
              <a:rPr/>
              <a:t>Umsetzung netzwerk-, host- oder identitätsbasiert. Leitfrage: Wer muss wirklich miteinander kommunizieren?</a:t>
            </a:r>
          </a:p>
        </p:txBody>
      </p:sp>
      <p:pic>
        <p:nvPicPr>
          <p:cNvPr descr="assets/microsegmentation-comic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Microsegmentation?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stoppt laterale Bewegung</a:t>
            </a:r>
          </a:p>
          <a:p>
            <a:pPr lvl="0"/>
            <a:r>
              <a:rPr/>
              <a:t>klare Kommunikationspfade</a:t>
            </a:r>
          </a:p>
          <a:p>
            <a:pPr lvl="0"/>
            <a:r>
              <a:rPr/>
              <a:t>Angriffe bleiben lokal</a:t>
            </a:r>
          </a:p>
          <a:p>
            <a:pPr lvl="0"/>
            <a:r>
              <a:rPr/>
              <a:t>Forensik wird einfacher</a:t>
            </a:r>
          </a:p>
          <a:p>
            <a:pPr lvl="0" indent="0" marL="0">
              <a:buNone/>
            </a:pPr>
            <a:r>
              <a:rPr/>
              <a:t>Allow-List statt Block-List, Datenflussanalyse vor Enforcement, iterative Einführung. „Technologie segmentiert Systeme – aber nur Organisationen segmentieren Risiko.“</a:t>
            </a:r>
          </a:p>
        </p:txBody>
      </p:sp>
      <p:pic>
        <p:nvPicPr>
          <p:cNvPr descr="../../assets/microseg-zell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463800"/>
            <a:ext cx="5613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Shared Responsibility Model</a:t>
            </a:r>
          </a:p>
          <a:p>
            <a:pPr lvl="0"/>
            <a:r>
              <a:rPr/>
              <a:t>Cloud-Anbieter ≠ Datensicherung</a:t>
            </a:r>
          </a:p>
          <a:p>
            <a:pPr lvl="0"/>
            <a:r>
              <a:rPr/>
              <a:t>Kunde verantwortet IAM, Konfiguration &amp; Backups</a:t>
            </a:r>
          </a:p>
          <a:p>
            <a:pPr lvl="0"/>
            <a:r>
              <a:rPr/>
              <a:t>Resilienz muss bewusst gebaut werden</a:t>
            </a:r>
          </a:p>
        </p:txBody>
      </p:sp>
      <p:pic>
        <p:nvPicPr>
          <p:cNvPr descr="../../assets/shared-responsi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29400" y="1841500"/>
            <a:ext cx="4749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Multi-AZ / Multi-Region</a:t>
            </a:r>
          </a:p>
          <a:p>
            <a:pPr lvl="0"/>
            <a:r>
              <a:rPr/>
              <a:t>stateless Services</a:t>
            </a:r>
          </a:p>
          <a:p>
            <a:pPr lvl="0"/>
            <a:r>
              <a:rPr/>
              <a:t>Auto-Scaling &amp; Load Balancing</a:t>
            </a:r>
          </a:p>
          <a:p>
            <a:pPr lvl="0"/>
            <a:r>
              <a:rPr/>
              <a:t>Immutable Infrastructure (IaC, Golden Images)</a:t>
            </a:r>
          </a:p>
          <a:p>
            <a:pPr lvl="0"/>
            <a:r>
              <a:rPr/>
              <a:t>Backups trotz Cloud, Observability, Chaos Engineering</a:t>
            </a:r>
          </a:p>
          <a:p>
            <a:pPr lvl="0" indent="0" marL="0">
              <a:buNone/>
            </a:pPr>
            <a:r>
              <a:rPr/>
              <a:t>„Cloud-Resilienz kommt aus Design — nicht aus einem Anbieterlogo.“</a:t>
            </a:r>
          </a:p>
        </p:txBody>
      </p:sp>
      <p:pic>
        <p:nvPicPr>
          <p:cNvPr descr="assets/cloud-resili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Design &amp;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Netzwerke als Resilienzfaktor</a:t>
            </a:r>
          </a:p>
          <a:p>
            <a:pPr lvl="0"/>
            <a:r>
              <a:rPr/>
              <a:t>Single Points of Failure vermeiden – Redundanz nur mit Unabhängigkeit (zwei Carrier, zwei Stromphasen)</a:t>
            </a:r>
          </a:p>
          <a:p>
            <a:pPr lvl="0"/>
            <a:r>
              <a:rPr/>
              <a:t>DNS, Routing, IAM → kritisch</a:t>
            </a:r>
          </a:p>
          <a:p>
            <a:pPr lvl="0"/>
            <a:r>
              <a:rPr/>
              <a:t>Telemetrie &amp; Monitoring als Pflicht</a:t>
            </a:r>
          </a:p>
          <a:p>
            <a:pPr lvl="0" indent="0" marL="0">
              <a:buNone/>
            </a:pPr>
            <a:r>
              <a:rPr/>
              <a:t>„Stabilität ohne Störung beweist nur Glück, nicht Resilienz.“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Resiliente Design Patterns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Leaf-Spine statt klassischer Stern</a:t>
            </a:r>
          </a:p>
          <a:p>
            <a:pPr lvl="0"/>
            <a:r>
              <a:rPr/>
              <a:t>SD-WAN zur Dezentralisierung</a:t>
            </a:r>
          </a:p>
          <a:p>
            <a:pPr lvl="0"/>
            <a:r>
              <a:rPr/>
              <a:t>redundante Pfade &amp; Carrier-Unabhängigkeit</a:t>
            </a:r>
          </a:p>
        </p:txBody>
      </p:sp>
      <p:pic>
        <p:nvPicPr>
          <p:cNvPr descr="assets/leaf-sp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78100"/>
            <a:ext cx="56134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Zusammenspiel der Maßnahmen</a:t>
            </a:r>
          </a:p>
          <a:p>
            <a:pPr lvl="0"/>
            <a:r>
              <a:rPr/>
              <a:t>Zero Trust = Schadensbegrenzung</a:t>
            </a:r>
          </a:p>
          <a:p>
            <a:pPr lvl="0"/>
            <a:r>
              <a:rPr/>
              <a:t>Microsegmentation = Bewegungskontrolle</a:t>
            </a:r>
          </a:p>
          <a:p>
            <a:pPr lvl="0"/>
            <a:r>
              <a:rPr/>
              <a:t>Cloud Resilience = skalierbare Wiederherstellung</a:t>
            </a:r>
          </a:p>
          <a:p>
            <a:pPr lvl="0"/>
            <a:r>
              <a:rPr/>
              <a:t>Network Design = stabile Grundlage</a:t>
            </a:r>
          </a:p>
          <a:p>
            <a:pPr lvl="0" indent="0" marL="0">
              <a:buNone/>
            </a:pPr>
            <a:r>
              <a:rPr/>
              <a:t>Reihenfolge: Netzwerkstabilität → Identität → Microsegmentation → Cloud-Resilienz → Zero Trust operationalisieren.</a:t>
            </a:r>
          </a:p>
        </p:txBody>
      </p:sp>
      <p:pic>
        <p:nvPicPr>
          <p:cNvPr descr="../../assets/integration-schich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17700"/>
            <a:ext cx="5613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GameNova GmbH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Hybride Multiplayer-Plattform: Authentifizierung in AWS, Matchmaking im eigenen RZ, Managed-SQL-Datenbank, CDN-Frontend, Adminzugriff per VPN.</a:t>
            </a:r>
          </a:p>
          <a:p>
            <a:pPr lvl="0" indent="0" marL="0">
              <a:buNone/>
            </a:pPr>
            <a:r>
              <a:rPr/>
              <a:t>Vorfälle: gestohlene Admin-Credentials · Ransomware im Entwicklernetz · zwei Stunden Ausfall durch Routerdefekt · offener Storage-Bucket mit Telemetrie.</a:t>
            </a:r>
          </a:p>
          <a:p>
            <a:pPr lvl="0" indent="-457200" marL="457200">
              <a:buAutoNum type="arabicPeriod"/>
            </a:pPr>
            <a:r>
              <a:rPr/>
              <a:t>Zero Trust (20 P.) · 2. Microsegmentation (20 P.) · 3. Cloud Resilience (25 P.) · 4. Network Resilience (20 P.) · 5. Integration &amp; Priorisierung (15 P.)</a:t>
            </a:r>
          </a:p>
          <a:p>
            <a:pPr lvl="0" indent="0" marL="0">
              <a:buNone/>
            </a:pPr>
            <a:r>
              <a:rPr/>
              <a:t>60–90 Minuten, Hilfsmittel erlaubt. Siehe Übungsblatt im Terminkapitel.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Architektur, nicht Backup.</a:t>
            </a:r>
          </a:p>
          <a:p>
            <a:pPr lvl="0"/>
            <a:r>
              <a:rPr/>
              <a:t>Vertrauen wird nicht vorausgesetzt.</a:t>
            </a:r>
          </a:p>
          <a:p>
            <a:pPr lvl="0"/>
            <a:r>
              <a:rPr/>
              <a:t>Angriffswege werden begrenzt.</a:t>
            </a:r>
          </a:p>
          <a:p>
            <a:pPr lvl="0"/>
            <a:r>
              <a:rPr/>
              <a:t>Architektur entscheidet über Krisenfähigkeit.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9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Sonderthemen zu Resilienz</a:t>
            </a:r>
          </a:p>
          <a:p>
            <a:pPr lvl="0"/>
            <a:r>
              <a:rPr/>
              <a:t>Gastvortrag aus der Praxis: Product &amp; Production Security (OT)</a:t>
            </a:r>
          </a:p>
          <a:p>
            <a:pPr lvl="0"/>
            <a:r>
              <a:rPr/>
              <a:t>OT-Resilienz: Purdue-Modell, Safety – Security – Resilience</a:t>
            </a:r>
          </a:p>
          <a:p>
            <a:pPr lvl="0"/>
            <a:r>
              <a:rPr/>
              <a:t>KI-Resilienz: Bedrohungen, Prinzipien, Wallet DoS</a:t>
            </a:r>
          </a:p>
          <a:p>
            <a:pPr lvl="0"/>
            <a:r>
              <a:rPr/>
              <a:t>Übung Gandalf AI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Technische Resilienz II: Zero Trust, Microsegmentation, Cloud Resilience &amp; Network Design</dc:title>
  <dc:creator>Prof. Dr. Dirk Loomans</dc:creator>
  <cp:keywords/>
  <dcterms:created xsi:type="dcterms:W3CDTF">2026-10-04T13:26:22Z</dcterms:created>
  <dcterms:modified xsi:type="dcterms:W3CDTF">2026-10-04T13:26:22Z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8</vt:lpwstr>
  </property>
  <property fmtid="{D5CDD505-2E9C-101B-9397-08002B2CF9AE}" pid="14" name="toc-title">
    <vt:lpwstr>Inhaltsverzeichnis</vt:lpwstr>
  </property>
</Properties>
</file>