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presProps" Target="presProps.xml" /><Relationship Id="rId25" Type="http://schemas.openxmlformats.org/officeDocument/2006/relationships/tableStyles" Target="tableStyles.xml" /><Relationship Id="rId23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3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9.jp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0.jp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1.jp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4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6.jp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hyperlink" Target="../../../termine/07.html" TargetMode="External" /><Relationship Id="rId3" Type="http://schemas.openxmlformats.org/officeDocument/2006/relationships/hyperlink" Target="../../../glossar.html" TargetMode="External" /><Relationship Id="rId4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Technische Resilienz I: Backup, Disaster Recovery, Notfalltests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7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Rückblick · Zielsetzung</a:t>
            </a:r>
          </a:p>
          <a:p>
            <a:pPr lvl="0"/>
            <a:r>
              <a:rPr/>
              <a:t>Warum Backups unverzichtbar sind · Backup vs. Archiv vs. Redundanz</a:t>
            </a:r>
          </a:p>
          <a:p>
            <a:pPr lvl="0"/>
            <a:r>
              <a:rPr/>
              <a:t>3-2-1-1-0-Regel · Backup-Typen · Backup-Architekturen</a:t>
            </a:r>
          </a:p>
          <a:p>
            <a:pPr lvl="0"/>
            <a:r>
              <a:rPr/>
              <a:t>Air-Gapped &amp; Immutable Backups · Zero-Trust-Backup</a:t>
            </a:r>
          </a:p>
          <a:p>
            <a:pPr lvl="0"/>
            <a:r>
              <a:rPr/>
              <a:t>Was ist DR? · RPO &amp; RTO · DR-Strategien und typische Fehler</a:t>
            </a:r>
          </a:p>
          <a:p>
            <a:pPr lvl="0"/>
            <a:r>
              <a:rPr/>
              <a:t>Notfalltests &amp; Chaos Engineering</a:t>
            </a:r>
          </a:p>
          <a:p>
            <a:pPr lvl="0"/>
            <a:r>
              <a:rPr/>
              <a:t>Übung (Gruppenarbeit) · Zusammenfassung &amp; Ausblick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Rückblick auf Sitzung 6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Rollenstruktur: CISO, SOC, CERT, DPO, BCM, IT Ops, Management</a:t>
            </a:r>
          </a:p>
          <a:p>
            <a:pPr lvl="0"/>
            <a:r>
              <a:rPr/>
              <a:t>Kommunikation &amp; Eskalationslogik</a:t>
            </a:r>
          </a:p>
          <a:p>
            <a:pPr lvl="0"/>
            <a:r>
              <a:rPr/>
              <a:t>Konfliktzonen und Governance-Lösungen</a:t>
            </a:r>
          </a:p>
          <a:p>
            <a:pPr lvl="0"/>
            <a:r>
              <a:rPr/>
              <a:t>Resilienz entsteht durch Klarheit, Vertrauen und Informationsfluss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Zielsetzung der Sitzung 7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Backup-Grundlagen verstehen</a:t>
            </a:r>
          </a:p>
          <a:p>
            <a:pPr lvl="0"/>
            <a:r>
              <a:rPr/>
              <a:t>DR-Strategien &amp; RPO/RTO</a:t>
            </a:r>
          </a:p>
          <a:p>
            <a:pPr lvl="0"/>
            <a:r>
              <a:rPr/>
              <a:t>Notfalltests &amp; Chaos Engineering</a:t>
            </a:r>
          </a:p>
          <a:p>
            <a:pPr lvl="0"/>
            <a:r>
              <a:rPr/>
              <a:t>Technische Resilienz als Zusammenspiel</a:t>
            </a:r>
          </a:p>
          <a:p>
            <a:pPr lvl="0" indent="0" marL="0">
              <a:buNone/>
            </a:pPr>
            <a:r>
              <a:rPr/>
              <a:t>Leitfrage: Wie stellen wir sicher, dass wir Systeme und Daten auch unter Worst-Case-Bedingungen zuverlässig wiederherstellen können?</a:t>
            </a:r>
          </a:p>
        </p:txBody>
      </p:sp>
      <p:pic>
        <p:nvPicPr>
          <p:cNvPr descr="assets/dr-hund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83400" y="1841500"/>
            <a:ext cx="4241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Backups unverzichtbar sind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Ransomware – greift gezielt Backup-Repositories, Snapshots und Backup-Admins an</a:t>
            </a:r>
          </a:p>
          <a:p>
            <a:pPr lvl="0"/>
            <a:r>
              <a:rPr/>
              <a:t>Insider-Angriffe</a:t>
            </a:r>
          </a:p>
          <a:p>
            <a:pPr lvl="0"/>
            <a:r>
              <a:rPr/>
              <a:t>Hardware-Ausfälle</a:t>
            </a:r>
          </a:p>
          <a:p>
            <a:pPr lvl="0"/>
            <a:r>
              <a:rPr/>
              <a:t>Menschliche Fehler</a:t>
            </a:r>
          </a:p>
          <a:p>
            <a:pPr lvl="0" indent="0" marL="0">
              <a:buNone/>
            </a:pPr>
            <a:r>
              <a:rPr/>
              <a:t>Backups sind die letzte Verteidigungslinie – sie müssen </a:t>
            </a:r>
            <a:r>
              <a:rPr b="1"/>
              <a:t>manipulationssicher, isoliert und wiederherstellbar</a:t>
            </a:r>
            <a:r>
              <a:rPr/>
              <a:t> sein.</a:t>
            </a:r>
          </a:p>
        </p:txBody>
      </p:sp>
      <p:pic>
        <p:nvPicPr>
          <p:cNvPr descr="assets/immutable-back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667000"/>
            <a:ext cx="56134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 vs. Archiv vs. Redundanz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Backup = Wiederherstellung</a:t>
            </a:r>
            <a:r>
              <a:rPr/>
              <a:t> vergangener Zustände</a:t>
            </a:r>
          </a:p>
          <a:p>
            <a:pPr lvl="0"/>
            <a:r>
              <a:rPr b="1"/>
              <a:t>Archiv = Langzeit</a:t>
            </a:r>
            <a:r>
              <a:rPr/>
              <a:t>-Aufbewahrung und Compliance (WORM)</a:t>
            </a:r>
          </a:p>
          <a:p>
            <a:pPr lvl="0"/>
            <a:r>
              <a:rPr b="1"/>
              <a:t>Redundanz = Hochverfügbarkeit</a:t>
            </a:r>
            <a:r>
              <a:rPr/>
              <a:t> im laufenden Betrieb</a:t>
            </a:r>
          </a:p>
          <a:p>
            <a:pPr lvl="0" indent="0" marL="0">
              <a:buNone/>
            </a:pPr>
            <a:r>
              <a:rPr/>
              <a:t>Redundanz löst keine logischen Probleme – sie spiegelt Fehler oft nur schneller.</a:t>
            </a:r>
          </a:p>
          <a:p>
            <a:pPr lvl="0" indent="0" marL="0">
              <a:buNone/>
            </a:pPr>
            <a:r>
              <a:rPr/>
              <a:t>„Wir haben RAID, also haben wir Backups.“ · „Snapshots sind doch Backups.“ – beides falsch.</a:t>
            </a:r>
          </a:p>
        </p:txBody>
      </p:sp>
      <p:pic>
        <p:nvPicPr>
          <p:cNvPr descr="assets/backup-vs-archiv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082800"/>
            <a:ext cx="5613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3-2-1-1-0-Regel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3</a:t>
            </a:r>
            <a:r>
              <a:rPr/>
              <a:t> Kopien</a:t>
            </a:r>
          </a:p>
          <a:p>
            <a:pPr lvl="0"/>
            <a:r>
              <a:rPr b="1"/>
              <a:t>2</a:t>
            </a:r>
            <a:r>
              <a:rPr/>
              <a:t> Medientypen</a:t>
            </a:r>
          </a:p>
          <a:p>
            <a:pPr lvl="0"/>
            <a:r>
              <a:rPr b="1"/>
              <a:t>1</a:t>
            </a:r>
            <a:r>
              <a:rPr/>
              <a:t> Offsite</a:t>
            </a:r>
          </a:p>
          <a:p>
            <a:pPr lvl="0"/>
            <a:r>
              <a:rPr b="1"/>
              <a:t>+1</a:t>
            </a:r>
            <a:r>
              <a:rPr/>
              <a:t> Immutable / Air-Gap</a:t>
            </a:r>
          </a:p>
          <a:p>
            <a:pPr lvl="0"/>
            <a:r>
              <a:rPr b="1"/>
              <a:t>+0</a:t>
            </a:r>
            <a:r>
              <a:rPr/>
              <a:t> fehlerfreier Restore</a:t>
            </a:r>
          </a:p>
          <a:p>
            <a:pPr lvl="0" indent="0" marL="0">
              <a:buNone/>
            </a:pPr>
            <a:r>
              <a:rPr/>
              <a:t>Ein Backup ist nur dann ein Backup, wenn der Restore erfolgreich getestet wurde.</a:t>
            </a:r>
          </a:p>
        </p:txBody>
      </p:sp>
      <p:pic>
        <p:nvPicPr>
          <p:cNvPr descr="assets/3-2-1-1-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3022600"/>
            <a:ext cx="5613400" cy="186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Backup-Typen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Vollbackup</a:t>
            </a:r>
            <a:r>
              <a:rPr/>
              <a:t> – vollständig, schneller Restore, hoher Speicherbedarf</a:t>
            </a:r>
          </a:p>
          <a:p>
            <a:pPr lvl="0"/>
            <a:r>
              <a:rPr b="1"/>
              <a:t>Inkrementell</a:t>
            </a:r>
            <a:r>
              <a:rPr/>
              <a:t> – Änderungen seit dem letzten Backup; schnell, aber Restore braucht die ganze Kette</a:t>
            </a:r>
          </a:p>
          <a:p>
            <a:pPr lvl="0"/>
            <a:r>
              <a:rPr b="1"/>
              <a:t>Differenziell</a:t>
            </a:r>
            <a:r>
              <a:rPr/>
              <a:t> – Änderungen seit dem letzten Vollbackup; wächst mit der Zeit</a:t>
            </a:r>
          </a:p>
          <a:p>
            <a:pPr lvl="0"/>
            <a:r>
              <a:rPr b="1"/>
              <a:t>Snapshots ≠ Backups</a:t>
            </a:r>
            <a:r>
              <a:rPr/>
              <a:t> – hängen am Storage und sind bei dessen Schaden mitbetroffen</a:t>
            </a:r>
          </a:p>
          <a:p>
            <a:pPr lvl="0" indent="0" marL="0">
              <a:buNone/>
            </a:pPr>
            <a:r>
              <a:rPr/>
              <a:t>Robuste Strategien kombinieren risikobasiert.</a:t>
            </a:r>
          </a:p>
        </p:txBody>
      </p:sp>
      <p:pic>
        <p:nvPicPr>
          <p:cNvPr descr="assets/backup-typ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565400"/>
            <a:ext cx="5613400" cy="280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Backup-Architekturen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On-Prem</a:t>
            </a:r>
            <a:r>
              <a:rPr/>
              <a:t> – volle Kontrolle, geringe Latenz; physische Risiken treffen alles zugleich</a:t>
            </a:r>
          </a:p>
          <a:p>
            <a:pPr lvl="0"/>
            <a:r>
              <a:rPr b="1"/>
              <a:t>Cloud</a:t>
            </a:r>
            <a:r>
              <a:rPr/>
              <a:t> – geografische Verteilung, einfache Offsite-Kopie; Anbieterabhängigkeit, Egress-Kosten, Shared Responsibility</a:t>
            </a:r>
          </a:p>
          <a:p>
            <a:pPr lvl="0"/>
            <a:r>
              <a:rPr b="1"/>
              <a:t>Hybrid</a:t>
            </a:r>
            <a:r>
              <a:rPr/>
              <a:t> – schneller lokaler Restore plus Cloud-Offsite; höhere Komplexität</a:t>
            </a:r>
          </a:p>
          <a:p>
            <a:pPr lvl="0" indent="0" marL="0">
              <a:buNone/>
            </a:pPr>
            <a:r>
              <a:rPr/>
              <a:t>Die Architektur passt zum Risiko – nicht umgekehrt.</a:t>
            </a:r>
          </a:p>
        </p:txBody>
      </p:sp>
      <p:pic>
        <p:nvPicPr>
          <p:cNvPr descr="assets/hybrid-backu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1955800"/>
            <a:ext cx="5613400" cy="400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Air-Gapped &amp; Immutable Backups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Air-Gap:</a:t>
            </a:r>
            <a:r>
              <a:rPr/>
              <a:t> physisch (Tape) oder logisch (zeitgesteuerter, kontrollierter Zugang) getrennt</a:t>
            </a:r>
          </a:p>
          <a:p>
            <a:pPr lvl="0"/>
            <a:r>
              <a:rPr b="1"/>
              <a:t>Immutable:</a:t>
            </a:r>
            <a:r>
              <a:rPr/>
              <a:t> unveränderbar (WORM), auch für kompromittierte Administratoren</a:t>
            </a:r>
          </a:p>
          <a:p>
            <a:pPr lvl="0" indent="0" marL="0">
              <a:buNone/>
            </a:pPr>
            <a:r>
              <a:rPr/>
              <a:t>Schützt gegen Löschaktionen, Ransomware und kompromittierte Admin-Konten.</a:t>
            </a:r>
          </a:p>
        </p:txBody>
      </p:sp>
      <p:pic>
        <p:nvPicPr>
          <p:cNvPr descr="assets/tap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64300" y="1841500"/>
            <a:ext cx="50927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Zero-Trust-Backup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MFA</a:t>
            </a:r>
          </a:p>
          <a:p>
            <a:pPr lvl="0"/>
            <a:r>
              <a:rPr/>
              <a:t>Segmentierung</a:t>
            </a:r>
          </a:p>
          <a:p>
            <a:pPr lvl="0"/>
            <a:r>
              <a:rPr/>
              <a:t>keine God-Admins – getrennte Administratorrollen, Least Privilege</a:t>
            </a:r>
          </a:p>
          <a:p>
            <a:pPr lvl="0"/>
            <a:r>
              <a:rPr/>
              <a:t>Backup-Server nicht im selben AD wie die Produktion</a:t>
            </a:r>
          </a:p>
        </p:txBody>
      </p:sp>
      <p:pic>
        <p:nvPicPr>
          <p:cNvPr descr="assets/admin-beute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18300" y="1841500"/>
            <a:ext cx="45720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ist DR?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DR = Wiederherstellung</a:t>
            </a:r>
            <a:r>
              <a:rPr/>
              <a:t> kompletter Systeme nach einem schweren Ereignis</a:t>
            </a:r>
          </a:p>
          <a:p>
            <a:pPr lvl="0"/>
            <a:r>
              <a:rPr b="1"/>
              <a:t>BCM = Fortführung</a:t>
            </a:r>
            <a:r>
              <a:rPr/>
              <a:t> der Geschäftsprozesse</a:t>
            </a:r>
          </a:p>
          <a:p>
            <a:pPr lvl="0" indent="0" marL="0">
              <a:buNone/>
            </a:pPr>
            <a:r>
              <a:rPr/>
              <a:t>DR ist der technische Motor von Business Continuity. Robustes BCM braucht funktionierendes DR.</a:t>
            </a:r>
          </a:p>
        </p:txBody>
      </p:sp>
      <p:pic>
        <p:nvPicPr>
          <p:cNvPr descr="assets/bcm-vs-dr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581900" y="1841500"/>
            <a:ext cx="28321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RPO &amp; RTO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RPO: Datenverlust</a:t>
            </a:r>
            <a:r>
              <a:rPr/>
              <a:t> – RPO 0 (keine Verluste), 15 min, 24 h</a:t>
            </a:r>
          </a:p>
          <a:p>
            <a:pPr lvl="0"/>
            <a:r>
              <a:rPr b="1"/>
              <a:t>RTO: Wiederanlaufzeit</a:t>
            </a:r>
            <a:r>
              <a:rPr/>
              <a:t> – RTO 0 (Active/Active), 4 h, 48 h</a:t>
            </a:r>
          </a:p>
          <a:p>
            <a:pPr lvl="0" indent="0" marL="0">
              <a:buNone/>
            </a:pPr>
            <a:r>
              <a:rPr/>
              <a:t>Beide bestimmen gemeinsam DR-Strategie, Kosten und Architekturkomplexität.</a:t>
            </a:r>
          </a:p>
        </p:txBody>
      </p:sp>
      <p:pic>
        <p:nvPicPr>
          <p:cNvPr descr="assets/rpo-rt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806700"/>
            <a:ext cx="56134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DR-Strategien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Cold / Warm / Hot Standby</a:t>
            </a:r>
          </a:p>
          <a:p>
            <a:pPr lvl="0"/>
            <a:r>
              <a:rPr/>
              <a:t>Active/Passive</a:t>
            </a:r>
          </a:p>
          <a:p>
            <a:pPr lvl="0"/>
            <a:r>
              <a:rPr/>
              <a:t>Active/Active</a:t>
            </a:r>
          </a:p>
          <a:p>
            <a:pPr lvl="0"/>
            <a:r>
              <a:rPr/>
              <a:t>Multi-Cloud-DR</a:t>
            </a:r>
          </a:p>
          <a:p>
            <a:pPr lvl="0" indent="0" marL="0">
              <a:buNone/>
            </a:pPr>
            <a:r>
              <a:rPr/>
              <a:t>Je kürzer RTO und RPO, desto höher Kosten und Komplexität.</a:t>
            </a:r>
          </a:p>
        </p:txBody>
      </p:sp>
      <p:pic>
        <p:nvPicPr>
          <p:cNvPr descr="assets/cold-warm-h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095500"/>
            <a:ext cx="5613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Typische DR-Fehler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Restore funktioniert nicht</a:t>
            </a:r>
          </a:p>
          <a:p>
            <a:pPr lvl="0"/>
            <a:r>
              <a:rPr/>
              <a:t>Dokumentation fehlt oder ist veraltet</a:t>
            </a:r>
          </a:p>
          <a:p>
            <a:pPr lvl="0"/>
            <a:r>
              <a:rPr/>
              <a:t>Abhängigkeiten unbekannt – AD, DNS und IAM vor Applikationen, Storage vor VMs</a:t>
            </a:r>
          </a:p>
          <a:p>
            <a:pPr lvl="0"/>
            <a:r>
              <a:rPr/>
              <a:t>Unrealistische RTO/RPO (RTO 1 h bei täglichem Backup?)</a:t>
            </a:r>
          </a:p>
          <a:p>
            <a:pPr lvl="0"/>
            <a:r>
              <a:rPr/>
              <a:t>DR-Umgebung weicht von der Produktion ab</a:t>
            </a:r>
          </a:p>
        </p:txBody>
      </p:sp>
      <p:pic>
        <p:nvPicPr>
          <p:cNvPr descr="assets/dr-fehler-comic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83400" y="1841500"/>
            <a:ext cx="4241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Notfalltests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Tabletop</a:t>
            </a:r>
            <a:r>
              <a:rPr/>
              <a:t> – Szenarien diskutieren, keine Systeme verändern</a:t>
            </a:r>
          </a:p>
          <a:p>
            <a:pPr lvl="0"/>
            <a:r>
              <a:rPr b="1"/>
              <a:t>Dry Run</a:t>
            </a:r>
            <a:r>
              <a:rPr/>
              <a:t> – einzelne Schritte, Restore einzelner Datenbanken oder VMs</a:t>
            </a:r>
          </a:p>
          <a:p>
            <a:pPr lvl="0"/>
            <a:r>
              <a:rPr b="1"/>
              <a:t>Full Failover</a:t>
            </a:r>
            <a:r>
              <a:rPr/>
              <a:t> – reale Umschaltung, RTO und RPO messen</a:t>
            </a:r>
          </a:p>
          <a:p>
            <a:pPr lvl="0" indent="0" marL="0">
              <a:buNone/>
            </a:pPr>
            <a:r>
              <a:rPr/>
              <a:t>Mindesterwartung: monatlicher Restore-Test, vierteljährlicher Tabletop, jährlicher Full Failover.</a:t>
            </a:r>
          </a:p>
        </p:txBody>
      </p:sp>
      <p:pic>
        <p:nvPicPr>
          <p:cNvPr descr="assets/testpl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578100"/>
            <a:ext cx="56134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Chaos Engineering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Fehler bewusst erzeugen: Systeme abschalten, Netzpfade unterbrechen, Storage-Ausfall simulieren</a:t>
            </a:r>
          </a:p>
          <a:p>
            <a:pPr lvl="0"/>
            <a:r>
              <a:rPr/>
              <a:t>Netflix Simian Army, Azure Chaos Studio, AWS Fault Injection Service</a:t>
            </a:r>
          </a:p>
          <a:p>
            <a:pPr lvl="0"/>
            <a:r>
              <a:rPr/>
              <a:t>Ziel: Schwachstellen unter realitätsnahen Bedingungen finden</a:t>
            </a:r>
          </a:p>
          <a:p>
            <a:pPr lvl="0" indent="0" marL="0">
              <a:buNone/>
            </a:pPr>
            <a:r>
              <a:rPr/>
              <a:t>Tests ohne Auswertung sind Übungen ohne Lerneffekt.</a:t>
            </a:r>
          </a:p>
        </p:txBody>
      </p:sp>
      <p:pic>
        <p:nvPicPr>
          <p:cNvPr descr="assets/simian-army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387600"/>
            <a:ext cx="5613400" cy="3162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Übung: „Plan the Worst Day“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Resilienzteam des Hochschul-Rechenzentrums nach simuliertem Ransomware- und Datenbankkorruptionsvorfall. Systeme: Lernplattform, Identity/AD, E-Mail &amp; Collaboration, Prüfungsdatenbank, Fileservices, Webseite/CMS.</a:t>
            </a:r>
          </a:p>
          <a:p>
            <a:pPr lvl="0" indent="-457200" marL="457200">
              <a:buAutoNum type="arabicPeriod"/>
            </a:pPr>
            <a:r>
              <a:rPr b="1"/>
              <a:t>Backup-Konzept (30 min):</a:t>
            </a:r>
            <a:r>
              <a:rPr/>
              <a:t> Daten, Frequenz, Typ, 3-2-1-1-0, Offsite, Ransomware-Schutz, Retention</a:t>
            </a:r>
          </a:p>
          <a:p>
            <a:pPr lvl="0" indent="-457200" marL="457200">
              <a:buAutoNum type="arabicPeriod"/>
            </a:pPr>
            <a:r>
              <a:rPr b="1"/>
              <a:t>DR-Plan (30 min):</a:t>
            </a:r>
            <a:r>
              <a:rPr/>
              <a:t> RTO/RPO, Strategie, Abhängigkeiten, Wiederherstellungsreihenfolge</a:t>
            </a:r>
          </a:p>
          <a:p>
            <a:pPr lvl="0" indent="-457200" marL="457200">
              <a:buAutoNum type="arabicPeriod"/>
            </a:pPr>
            <a:r>
              <a:rPr b="1"/>
              <a:t>Notfalltest-Konzept (30 min):</a:t>
            </a:r>
            <a:r>
              <a:rPr/>
              <a:t> Testarten, Häufigkeit, Metriken, Dokumentation, Lessons Learned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Zusammenfassung &amp; Ausblick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Backups schützen</a:t>
            </a:r>
          </a:p>
          <a:p>
            <a:pPr lvl="0"/>
            <a:r>
              <a:rPr/>
              <a:t>DR stellt wieder her</a:t>
            </a:r>
          </a:p>
          <a:p>
            <a:pPr lvl="0"/>
            <a:r>
              <a:rPr/>
              <a:t>Tests verifizieren</a:t>
            </a:r>
          </a:p>
          <a:p>
            <a:pPr lvl="0" indent="0" marL="0">
              <a:buNone/>
            </a:pPr>
            <a:r>
              <a:rPr/>
              <a:t>Backups retten Daten. Disaster Recovery rettet Systeme. Tests retten den Betrieb.</a:t>
            </a:r>
          </a:p>
          <a:p>
            <a:pPr lvl="0" indent="0" marL="0">
              <a:buNone/>
            </a:pPr>
            <a:r>
              <a:rPr b="1"/>
              <a:t>Nächste Woche:</a:t>
            </a:r>
            <a:r>
              <a:rPr/>
              <a:t> Zero Trust, Microsegmentation, Cloud Resilience, Network Design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Material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Kapitel zum Termin</a:t>
            </a:r>
            <a:r>
              <a:rPr/>
              <a:t> · </a:t>
            </a:r>
            <a:r>
              <a:rPr>
                <a:hlinkClick r:id="rId3"/>
              </a:rPr>
              <a:t>Glossar</a:t>
            </a:r>
            <a:r>
              <a:rPr/>
              <a:t> · </a:t>
            </a:r>
            <a:r>
              <a:rPr>
                <a:hlinkClick r:id="rId4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Technische Resilienz I: Backup, Disaster Recovery, Notfalltests</dc:title>
  <dc:creator>Prof. Dr. Dirk Loomans</dc:creator>
  <cp:keywords/>
  <dcterms:created xsi:type="dcterms:W3CDTF">2026-09-29T11:19:35Z</dcterms:created>
  <dcterms:modified xsi:type="dcterms:W3CDTF">2026-09-29T11:19:35Z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7</vt:lpwstr>
  </property>
  <property fmtid="{D5CDD505-2E9C-101B-9397-08002B2CF9AE}" pid="14" name="toc-title">
    <vt:lpwstr>Inhaltsverzeichnis</vt:lpwstr>
  </property>
</Properties>
</file>