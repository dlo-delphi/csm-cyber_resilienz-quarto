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0" Type="http://schemas.openxmlformats.org/officeDocument/2006/relationships/presProps" Target="presProps.xml" /><Relationship Id="rId23" Type="http://schemas.openxmlformats.org/officeDocument/2006/relationships/tableStyles" Target="tableStyles.xml" /><Relationship Id="rId2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Phasengliederung von ISO/IEC 27035-1 ist gröber; die sechsstufige Gliederung entspricht eher NIST SP 800-61 Rev. 2. Siehe Hinweise zur Aktualität.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5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Resilienz als Organisationsfähigkeit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5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&amp; Zielsetzung</a:t>
            </a:r>
          </a:p>
          <a:p>
            <a:pPr lvl="0"/>
            <a:r>
              <a:rPr/>
              <a:t>Organisationale Resilienz und Resilienzzyklus</a:t>
            </a:r>
          </a:p>
          <a:p>
            <a:pPr lvl="0"/>
            <a:r>
              <a:rPr/>
              <a:t>Rollen und Verantwortlichkeiten</a:t>
            </a:r>
          </a:p>
          <a:p>
            <a:pPr lvl="0"/>
            <a:r>
              <a:rPr/>
              <a:t>Kommunikation unter Stress · Schulz von Thun</a:t>
            </a:r>
          </a:p>
          <a:p>
            <a:pPr lvl="0"/>
            <a:r>
              <a:rPr/>
              <a:t>Incident-Response-Prozess</a:t>
            </a:r>
          </a:p>
          <a:p>
            <a:pPr lvl="0"/>
            <a:r>
              <a:rPr/>
              <a:t>Übungs- und Trainingskultur · Governance</a:t>
            </a:r>
          </a:p>
          <a:p>
            <a:pPr lvl="0"/>
            <a:r>
              <a:rPr/>
              <a:t>Übung (Gruppenarbeit) · Kultur &amp; Lernen</a:t>
            </a:r>
          </a:p>
          <a:p>
            <a:pPr lvl="0"/>
            <a:r>
              <a:rPr/>
              <a:t>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&amp; Zielsetzung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Technik schafft Potenzial – Organisation aktiviert es.</a:t>
            </a:r>
          </a:p>
          <a:p>
            <a:pPr lvl="0"/>
            <a:r>
              <a:rPr/>
              <a:t>Technische Resilienz sichert Systeme.</a:t>
            </a:r>
          </a:p>
          <a:p>
            <a:pPr lvl="0"/>
            <a:r>
              <a:rPr/>
              <a:t>Organisationale Resilienz sichert Entscheidungen.</a:t>
            </a:r>
          </a:p>
          <a:p>
            <a:pPr lvl="0"/>
            <a:r>
              <a:rPr/>
              <a:t>Im Ernstfall entscheidet nicht Technologie, sondern Verhalten.</a:t>
            </a:r>
          </a:p>
          <a:p>
            <a:pPr lvl="0"/>
            <a:r>
              <a:rPr/>
              <a:t>Fokus heute: Menschen, Prozesse, Kommunikation, Rollen.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organisationale Resilienz?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 nach ISO 22316: „Die Fähigkeit einer Organisation, Störungen vorherzusehen, sich vorzubereiten, zu reagieren und sich anzupassen, um in einem sich verändernden Umfeld zu überleben und zu gedeihen.“</a:t>
            </a:r>
          </a:p>
          <a:p>
            <a:pPr lvl="0"/>
            <a:r>
              <a:rPr b="1"/>
              <a:t>Strukturen</a:t>
            </a:r>
            <a:r>
              <a:rPr/>
              <a:t> → klare Rollen &amp; Verantwortlichkeiten</a:t>
            </a:r>
          </a:p>
          <a:p>
            <a:pPr lvl="0"/>
            <a:r>
              <a:rPr b="1"/>
              <a:t>Prozesse</a:t>
            </a:r>
            <a:r>
              <a:rPr/>
              <a:t> → Detection, Reaktion, Wiederanlauf</a:t>
            </a:r>
          </a:p>
          <a:p>
            <a:pPr lvl="0"/>
            <a:r>
              <a:rPr b="1"/>
              <a:t>Menschen</a:t>
            </a:r>
            <a:r>
              <a:rPr/>
              <a:t> → Ausbildung, Training, Entscheidungsfähigkeit</a:t>
            </a:r>
          </a:p>
          <a:p>
            <a:pPr lvl="0"/>
            <a:r>
              <a:rPr b="1"/>
              <a:t>Kultur</a:t>
            </a:r>
            <a:r>
              <a:rPr/>
              <a:t> → Fehleroffenheit &amp; Lernfähigkeit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 Resilienzzyklus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Detection:</a:t>
            </a:r>
            <a:r>
              <a:rPr/>
              <a:t> Früherkennung von Störungen</a:t>
            </a:r>
          </a:p>
          <a:p>
            <a:pPr lvl="0"/>
            <a:r>
              <a:rPr b="1"/>
              <a:t>Response:</a:t>
            </a:r>
            <a:r>
              <a:rPr/>
              <a:t> Sofortmaßnahmen und Schadensbegrenzung</a:t>
            </a:r>
          </a:p>
          <a:p>
            <a:pPr lvl="0"/>
            <a:r>
              <a:rPr b="1"/>
              <a:t>Recovery:</a:t>
            </a:r>
            <a:r>
              <a:rPr/>
              <a:t> Wiederanlauf auf definiertem Niveau</a:t>
            </a:r>
          </a:p>
          <a:p>
            <a:pPr lvl="0"/>
            <a:r>
              <a:rPr b="1"/>
              <a:t>Adapt:</a:t>
            </a:r>
            <a:r>
              <a:rPr/>
              <a:t> Lernen und Optimieren nach jedem Ereignis</a:t>
            </a:r>
          </a:p>
          <a:p>
            <a:pPr lvl="0" indent="0" marL="0">
              <a:buNone/>
            </a:pPr>
            <a:r>
              <a:rPr/>
              <a:t>Bezug: ISO 22316 · ISO/IEC 27035 · BSI 200-4</a:t>
            </a:r>
          </a:p>
        </p:txBody>
      </p:sp>
      <p:pic>
        <p:nvPicPr>
          <p:cNvPr descr="assets/resilience-lifecycle-framework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Rollen und Verantwortlichkeiten in der Resilienzorganisation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Kernprinzip: „Wer entscheidet was, wann und warum?“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Hauptaufgabe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Strategische Leitung, Entscheidung über Eskalationsstufen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 Commander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Operative Gesamtkoordination im Ereignisfall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Technische Eindämmung und Wiederherstellung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Kommunikation / 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 &amp; externe Information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 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Ressourcenfreigabe, Business-Priorisierung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Entscheidungslogik in Krisen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Rollen statt Personen – die Organisation bleibt handlungsfähig, wenn Einzelne fehlen.</a:t>
            </a:r>
          </a:p>
          <a:p>
            <a:pPr lvl="0"/>
            <a:r>
              <a:rPr/>
              <a:t>Der Linienweg ist zu langsam: Entscheidungskompetenz auf Zeit (Incident Command System).</a:t>
            </a:r>
          </a:p>
          <a:p>
            <a:pPr lvl="0"/>
            <a:r>
              <a:rPr/>
              <a:t>Command priorisiert · Operations handelt · Support dokumentiert und kommuniziert.</a:t>
            </a:r>
          </a:p>
          <a:p>
            <a:pPr lvl="0"/>
            <a:r>
              <a:rPr/>
              <a:t>Unity of Command · Span of Control (5–7) · Delegation · Nachvollziehbarkeit · Training.</a:t>
            </a:r>
          </a:p>
        </p:txBody>
      </p:sp>
      <p:pic>
        <p:nvPicPr>
          <p:cNvPr descr="../../assets/incident-comm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1866900"/>
            <a:ext cx="5613400" cy="419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Kommunikation unter Stress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Krisenkommunikation ist Teil der Resilienzarchitektur.</a:t>
            </a:r>
          </a:p>
          <a:p>
            <a:pPr lvl="0"/>
            <a:r>
              <a:rPr/>
              <a:t>Viele Vorfallsbehandlungen scheitern an Informationsfehlern, nicht an Technik.</a:t>
            </a:r>
          </a:p>
          <a:p>
            <a:pPr lvl="0"/>
            <a:r>
              <a:rPr/>
              <a:t>Prinzipien: </a:t>
            </a:r>
            <a:r>
              <a:rPr b="1"/>
              <a:t>Clear · Concise · Confirmed · Coordinated</a:t>
            </a:r>
          </a:p>
          <a:p>
            <a:pPr lvl="0"/>
            <a:r>
              <a:rPr/>
              <a:t>„Eine Info ist nur so gut wie ihre Bestätigung.“</a:t>
            </a:r>
          </a:p>
          <a:p>
            <a:pPr lvl="0"/>
            <a:r>
              <a:rPr/>
              <a:t>Kommunikationskanäle müssen vorher definiert und getestet sein.</a:t>
            </a:r>
          </a:p>
        </p:txBody>
      </p:sp>
      <p:pic>
        <p:nvPicPr>
          <p:cNvPr descr="../../assets/ccc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Exkurs: Kommunikation nach Schulz von Thun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Jede Botschaft hat vier Ebenen. Beispiel im IT-Incident – Admin sagt: „Der Server ist schon wieder down.“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Ebene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Botschaft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Sachinhalt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Worüber informiere ich?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Der Server ist nicht erreichbar.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Selbstoffenbarung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 zeige ich von mir?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Ich bin genervt / gestresst.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Beziehung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 halte ich vom anderen?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Ihr hättet das früher merken müssen.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 will ich erreichen?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Bitte tut endlich was!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Kommunikationsübung: Vier Seiten einer Nachricht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3er-Gruppen, 10 Minuten. Analysiert die Aussage aus einer Incident-Situation:</a:t>
            </a:r>
          </a:p>
          <a:p>
            <a:pPr lvl="0" indent="0" marL="0">
              <a:buNone/>
            </a:pPr>
            <a:r>
              <a:rPr b="1"/>
              <a:t>„Warum habt ihr das Backup noch nicht eingespielt?“</a:t>
            </a:r>
          </a:p>
          <a:p>
            <a:pPr lvl="0"/>
            <a:r>
              <a:rPr/>
              <a:t>Welche Botschaften stecken in den vier Ebenen?</a:t>
            </a:r>
          </a:p>
          <a:p>
            <a:pPr lvl="0"/>
            <a:r>
              <a:rPr/>
              <a:t>Wie könnte dieselbe Aussage resilienter formuliert werden?</a:t>
            </a:r>
          </a:p>
          <a:p>
            <a:pPr lvl="0"/>
            <a:r>
              <a:rPr/>
              <a:t>Welche Missverständnisse entstehen, wenn nur eine Ebene gehört wird?</a:t>
            </a:r>
          </a:p>
          <a:p>
            <a:pPr lvl="0"/>
            <a:r>
              <a:rPr/>
              <a:t>Welche Kommunikationsregeln helfen, in Stresslagen klar zu bleiben?</a:t>
            </a:r>
          </a:p>
        </p:txBody>
      </p:sp>
      <p:pic>
        <p:nvPicPr>
          <p:cNvPr descr="assets/vier-ohre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1854200"/>
            <a:ext cx="5613400" cy="420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Incident-Response-Prozess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Standardphasen nach ISO/IEC 27035 (laut Unterlagen):</a:t>
            </a:r>
          </a:p>
          <a:p>
            <a:pPr lvl="0" indent="-457200" marL="457200">
              <a:buAutoNum type="arabicPeriod"/>
            </a:pPr>
            <a:r>
              <a:rPr/>
              <a:t>Detection &amp; Reporting – Ereignis erkennen und melden</a:t>
            </a:r>
          </a:p>
          <a:p>
            <a:pPr lvl="0" indent="-457200" marL="457200">
              <a:buAutoNum type="arabicPeriod"/>
            </a:pPr>
            <a:r>
              <a:rPr/>
              <a:t>Triage &amp; Classification – Kritikalität bestimmen</a:t>
            </a:r>
          </a:p>
          <a:p>
            <a:pPr lvl="0" indent="-457200" marL="457200">
              <a:buAutoNum type="arabicPeriod"/>
            </a:pPr>
            <a:r>
              <a:rPr/>
              <a:t>Containment – Ausbreitung stoppen</a:t>
            </a:r>
          </a:p>
          <a:p>
            <a:pPr lvl="0" indent="-457200" marL="457200">
              <a:buAutoNum type="arabicPeriod"/>
            </a:pPr>
            <a:r>
              <a:rPr/>
              <a:t>Eradication – Ursache beseitigen</a:t>
            </a:r>
          </a:p>
          <a:p>
            <a:pPr lvl="0" indent="-457200" marL="457200">
              <a:buAutoNum type="arabicPeriod"/>
            </a:pPr>
            <a:r>
              <a:rPr/>
              <a:t>Recovery – Systeme wiederherstellen</a:t>
            </a:r>
          </a:p>
          <a:p>
            <a:pPr lvl="0" indent="-457200" marL="457200">
              <a:buAutoNum type="arabicPeriod"/>
            </a:pPr>
            <a:r>
              <a:rPr/>
              <a:t>Lessons Learned – Erkenntnisse in Prozesse zurückführen</a:t>
            </a:r>
          </a:p>
          <a:p>
            <a:pPr lvl="0" indent="0" marL="0">
              <a:buNone/>
            </a:pPr>
            <a:r>
              <a:rPr/>
              <a:t>Jede Phase braucht definierte Owner, Playbooks und Kommunikationskanäle.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Übungs- und Trainingskultur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Resilienz ist keine Theorie – sie entsteht durch Übung.</a:t>
            </a:r>
          </a:p>
          <a:p>
            <a:pPr lvl="0"/>
            <a:r>
              <a:rPr b="1"/>
              <a:t>Tabletop-Übungen:</a:t>
            </a:r>
            <a:r>
              <a:rPr/>
              <a:t> Planspiel, Fokus auf Kommunikation und Entscheidungswege</a:t>
            </a:r>
          </a:p>
          <a:p>
            <a:pPr lvl="0"/>
            <a:r>
              <a:rPr b="1"/>
              <a:t>Live-Simulationen:</a:t>
            </a:r>
            <a:r>
              <a:rPr/>
              <a:t> technische Reaktionsfähigkeit unter Realbedingungen</a:t>
            </a:r>
          </a:p>
          <a:p>
            <a:pPr lvl="0"/>
            <a:r>
              <a:rPr b="1"/>
              <a:t>After-Action Reviews:</a:t>
            </a:r>
            <a:r>
              <a:rPr/>
              <a:t> strukturiertes Feedback, keine Schuldzuweisung</a:t>
            </a:r>
          </a:p>
          <a:p>
            <a:pPr lvl="0"/>
            <a:r>
              <a:rPr b="1"/>
              <a:t>Metriken:</a:t>
            </a:r>
            <a:r>
              <a:rPr/>
              <a:t> Time-to-Detect, Time-to-Decision, Time-to-Recover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Resilienz-Governance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Integration in ISMS, BCMS und Risk Management</a:t>
            </a:r>
          </a:p>
          <a:p>
            <a:pPr lvl="0"/>
            <a:r>
              <a:rPr/>
              <a:t>Regelmäßige Reviews, Tests und Audits</a:t>
            </a:r>
          </a:p>
          <a:p>
            <a:pPr lvl="0"/>
            <a:r>
              <a:rPr/>
              <a:t>Kennzahlen: RTO-Erreichung, Übungshäufigkeit, Lessons-Learned-Umsetzung</a:t>
            </a:r>
          </a:p>
          <a:p>
            <a:pPr lvl="0"/>
            <a:r>
              <a:rPr/>
              <a:t>Berichtspflicht an Management und Aufsichtsgremien</a:t>
            </a:r>
          </a:p>
          <a:p>
            <a:pPr lvl="0"/>
            <a:r>
              <a:rPr/>
              <a:t>Reifegradbewertung, etwa nach BSI 200-4 oder ISO 22301</a:t>
            </a:r>
          </a:p>
          <a:p>
            <a:pPr lvl="0" indent="0" marL="0">
              <a:buNone/>
            </a:pPr>
            <a:r>
              <a:rPr/>
              <a:t>„Resilienz ist keine Projektaufgabe, sondern Führungsverhalten.“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 (Gruppenarbeit)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Szenario:</a:t>
            </a:r>
            <a:r>
              <a:rPr/>
              <a:t> Am Montagmorgen bemerkt die IT, dass mehrere File-Server verschlüsselt sind und eine Lösegeldforderung erscheint. Cloud-Sync ist betroffen, VPN läuft noch.</a:t>
            </a:r>
          </a:p>
          <a:p>
            <a:pPr lvl="0" indent="0" marL="0">
              <a:buNone/>
            </a:pPr>
            <a:r>
              <a:rPr/>
              <a:t>15–20 Minuten:</a:t>
            </a:r>
          </a:p>
          <a:p>
            <a:pPr lvl="0" indent="-457200" marL="457200">
              <a:buAutoNum type="arabicPeriod"/>
            </a:pPr>
            <a:r>
              <a:rPr/>
              <a:t>Wer übernimmt die Incident-Leitung?</a:t>
            </a:r>
          </a:p>
          <a:p>
            <a:pPr lvl="0" indent="-457200" marL="457200">
              <a:buAutoNum type="arabicPeriod"/>
            </a:pPr>
            <a:r>
              <a:rPr/>
              <a:t>Welche Systeme oder Personen müssen sofort informiert werden?</a:t>
            </a:r>
          </a:p>
          <a:p>
            <a:pPr lvl="0" indent="-457200" marL="457200">
              <a:buAutoNum type="arabicPeriod"/>
            </a:pPr>
            <a:r>
              <a:rPr/>
              <a:t>Welche Entscheidungen sind in den ersten 30 Minuten kritisch?</a:t>
            </a:r>
          </a:p>
          <a:p>
            <a:pPr lvl="0" indent="-457200" marL="457200">
              <a:buAutoNum type="arabicPeriod"/>
            </a:pPr>
            <a:r>
              <a:rPr/>
              <a:t>Wie läuft die interne und externe Kommunikation?</a:t>
            </a:r>
          </a:p>
          <a:p>
            <a:pPr lvl="0" indent="-457200" marL="457200">
              <a:buAutoNum type="arabicPeriod"/>
            </a:pPr>
            <a:r>
              <a:rPr/>
              <a:t>Welche Priorität hat Recovery vs. Forensik?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Kultur &amp; Lernen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Resilienz ist ein soziales Phänomen.</a:t>
            </a:r>
          </a:p>
          <a:p>
            <a:pPr lvl="0"/>
            <a:r>
              <a:rPr b="1"/>
              <a:t>Blame-free Post-Mortems:</a:t>
            </a:r>
            <a:r>
              <a:rPr/>
              <a:t> Fokus auf Ursache, nicht Schuld</a:t>
            </a:r>
          </a:p>
          <a:p>
            <a:pPr lvl="0"/>
            <a:r>
              <a:rPr b="1"/>
              <a:t>Transparente Kommunikation:</a:t>
            </a:r>
            <a:r>
              <a:rPr/>
              <a:t> Fehler werden geteilt, nicht versteckt</a:t>
            </a:r>
          </a:p>
          <a:p>
            <a:pPr lvl="0"/>
            <a:r>
              <a:rPr b="1"/>
              <a:t>Institutionelles Lernen:</a:t>
            </a:r>
            <a:r>
              <a:rPr/>
              <a:t> Lessons Learned → Process Improvement</a:t>
            </a:r>
          </a:p>
          <a:p>
            <a:pPr lvl="0"/>
            <a:r>
              <a:rPr b="1"/>
              <a:t>Psychologische Sicherheit:</a:t>
            </a:r>
            <a:r>
              <a:rPr/>
              <a:t> Teams dürfen Fehler zugeben (und machen)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 &amp; Ausblick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Organisationale Resilienz = Fähigkeit zur koordinierten Reaktion.</a:t>
            </a:r>
          </a:p>
          <a:p>
            <a:pPr lvl="0"/>
            <a:r>
              <a:rPr/>
              <a:t>Rollen, Kommunikation und Übung sind die entscheidenden Faktoren.</a:t>
            </a:r>
          </a:p>
          <a:p>
            <a:pPr lvl="0"/>
            <a:r>
              <a:rPr/>
              <a:t>Recovery muss nicht nur technisch, sondern auch organisatorisch funktionieren.</a:t>
            </a:r>
          </a:p>
          <a:p>
            <a:pPr lvl="0"/>
            <a:r>
              <a:rPr/>
              <a:t>Lernen ist Teil des Zyklus, nicht dessen Nachbereitung.</a:t>
            </a:r>
          </a:p>
          <a:p>
            <a:pPr lvl="0" indent="0" marL="0">
              <a:buNone/>
            </a:pPr>
            <a:r>
              <a:rPr b="1"/>
              <a:t>Ausblick Sitzung 6:</a:t>
            </a:r>
            <a:r>
              <a:rPr/>
              <a:t> Rollen und Verantwortlichkeiten – CISO, SOC, CERT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Resilienz als Organisationsfähigkeit</dc:title>
  <dc:creator>Prof. Dr. Dirk Loomans</dc:creator>
  <cp:keywords/>
  <dcterms:created xsi:type="dcterms:W3CDTF">2026-10-04T13:27:06Z</dcterms:created>
  <dcterms:modified xsi:type="dcterms:W3CDTF">2026-10-04T13:27:06Z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5</vt:lpwstr>
  </property>
  <property fmtid="{D5CDD505-2E9C-101B-9397-08002B2CF9AE}" pid="14" name="toc-title">
    <vt:lpwstr>Inhaltsverzeichnis</vt:lpwstr>
  </property>
</Properties>
</file>