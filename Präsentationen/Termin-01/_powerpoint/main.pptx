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notesMaster" Target="notesMasters/notesMaster1.xml" /><Relationship Id="rId20" Type="http://schemas.openxmlformats.org/officeDocument/2006/relationships/presProps" Target="presProps.xml" /><Relationship Id="rId23" Type="http://schemas.openxmlformats.org/officeDocument/2006/relationships/tableStyles" Target="tableStyles.xml" /><Relationship Id="rId2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Aktuelles Kennwort vor der Veranstaltung eintragen. Das Kennwort des Vorsemesters wurde aus dem Foliensatz entfernt.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Server-Ausfälle beim Zocken als Einstieg. Ausfälle sind normal, Erholungsfähigkeit zählt. Überleitung zur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definieren, Herkunft erwähnen, Alltagsbeispiele abfragen.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vs. Security sammeln. Resilienz wird von beidem beeinflusst.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Physik-Analogie (Pendel/Schwingkreis). Fragil vs. resilient.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Vier Prinzipien mit Cloud-/Netzwerk-Bezug erläutern.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Mini-Case-Diskussion. Priorisierung und Abhängigkeiten betonen.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100 % Prävention nicht existiert. Merksatz und NIST-Gedanke: Detect – Respond – Recover ergänzen die Prävention.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Management-Verantwortung, Standards anreißen, Ausblick auf spätere Sitzungen.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Zwei reale Fälle diskutieren. Lösungen fokussieren auf Recovery und Kommunikation.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Aufgabenstellung klar, Gruppen bilden, Zeitrahmen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Kernaussagen wiederholen, Hausaufgabe, Teaser auf Sitzung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6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9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0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2.xml" /><Relationship Id="rId3" Type="http://schemas.openxmlformats.org/officeDocument/2006/relationships/hyperlink" Target="../../../termine/01.html" TargetMode="External" /><Relationship Id="rId4" Type="http://schemas.openxmlformats.org/officeDocument/2006/relationships/hyperlink" Target="../../../glossar.html" TargetMode="External" /><Relationship Id="rId5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Grundlagen der Resilienz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1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…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Prof. Dr. Dirk Loomans</a:t>
            </a:r>
            <a:r>
              <a:rPr/>
              <a:t>, Diplom-Physiker</a:t>
            </a:r>
          </a:p>
          <a:p>
            <a:pPr lvl="0"/>
            <a:r>
              <a:rPr/>
              <a:t>Studium Physik mit Informatik, Universität Bayreuth; Promotion in theoretischer Polymerphysik, Universität Freiburg i. Br.</a:t>
            </a:r>
          </a:p>
          <a:p>
            <a:pPr lvl="0"/>
            <a:r>
              <a:rPr/>
              <a:t>Partner Cyber Security and Resilience bei KPMG</a:t>
            </a:r>
          </a:p>
          <a:p>
            <a:pPr lvl="0"/>
            <a:r>
              <a:rPr/>
              <a:t>Hochschule Mainz, Fachbereich Wirtschaft: Wirtschaftsinformatik, insbesondere Cyber Security und Softwareentwicklung (WiSe 2011/12 – SoSe 2015 und seit SoSe 2025)</a:t>
            </a:r>
          </a:p>
          <a:p>
            <a:pPr lvl="0"/>
            <a:r>
              <a:rPr/>
              <a:t>Lehre: Projektmanagement, Cyber-Resilienz, IT-Security, Web Development</a:t>
            </a:r>
          </a:p>
          <a:p>
            <a:pPr lvl="0"/>
            <a:r>
              <a:rPr/>
              <a:t>Forschung: KI und Cyber, Cyber in Sustainability</a:t>
            </a:r>
          </a:p>
          <a:p>
            <a:pPr lvl="0"/>
            <a:r>
              <a:rPr/>
              <a:t>Fun Fact: Hobbybrauer und Fastnachts-Aficionado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Zugang zum Kurs in OLAT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Kursunterlagen, Skripte und Ankündigungen liegen in OLAT.</a:t>
            </a:r>
          </a:p>
          <a:p>
            <a:pPr lvl="0" indent="0" marL="0">
              <a:buNone/>
            </a:pPr>
            <a:r>
              <a:rPr/>
              <a:t>Zugangskennwort: wird in der Veranstaltung bekannt gegeben.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Semesterüberblick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Grundlagen der Resilienz: Safety &amp; Security</a:t>
            </a:r>
            <a:r>
              <a:rPr/>
              <a:t> ← heute</a:t>
            </a:r>
          </a:p>
          <a:p>
            <a:pPr lvl="0" indent="-457200" marL="457200">
              <a:buAutoNum type="arabicPeriod"/>
            </a:pPr>
            <a:r>
              <a:rPr/>
              <a:t>Modelle und Messbarkeit</a:t>
            </a:r>
          </a:p>
          <a:p>
            <a:pPr lvl="0" indent="-457200" marL="457200">
              <a:buAutoNum type="arabicPeriod"/>
            </a:pPr>
            <a:r>
              <a:rPr/>
              <a:t>Resilienz-Architekturen</a:t>
            </a:r>
          </a:p>
          <a:p>
            <a:pPr lvl="0" indent="-457200" marL="457200">
              <a:buAutoNum type="arabicPeriod"/>
            </a:pPr>
            <a:r>
              <a:rPr/>
              <a:t>Cyber-Bedrohungen und Resilienzstrategien</a:t>
            </a:r>
          </a:p>
          <a:p>
            <a:pPr lvl="0" indent="-457200" marL="457200">
              <a:buAutoNum type="arabicPeriod"/>
            </a:pPr>
            <a:r>
              <a:rPr/>
              <a:t>Resilienz als Organisationsfähigkeit</a:t>
            </a:r>
          </a:p>
          <a:p>
            <a:pPr lvl="0" indent="-457200" marL="457200">
              <a:buAutoNum type="arabicPeriod"/>
            </a:pPr>
            <a:r>
              <a:rPr/>
              <a:t>Rollen und Verantwortlichkeiten</a:t>
            </a:r>
          </a:p>
          <a:p>
            <a:pPr lvl="0" indent="-457200" marL="457200">
              <a:buAutoNum type="arabicPeriod"/>
            </a:pPr>
            <a:r>
              <a:rPr/>
              <a:t>Technische Resilienz I: Backup, DR, Notfalltests</a:t>
            </a:r>
          </a:p>
          <a:p>
            <a:pPr lvl="0" indent="-457200" marL="457200">
              <a:buAutoNum type="arabicPeriod"/>
            </a:pPr>
            <a:r>
              <a:rPr/>
              <a:t>Technische Resilienz II: Zero Trust, Microsegmentation, Cloud, Netz</a:t>
            </a:r>
          </a:p>
          <a:p>
            <a:pPr lvl="0" indent="-457200" marL="457200">
              <a:buAutoNum type="arabicPeriod"/>
            </a:pPr>
            <a:r>
              <a:rPr/>
              <a:t>Sonderthemen OT und KI · 10. Resilienz der Zukunft · 11. Klausur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Einleitung &amp; Lernziele</a:t>
            </a:r>
          </a:p>
          <a:p>
            <a:pPr lvl="0"/>
            <a:r>
              <a:rPr/>
              <a:t>Grundlagen der Resilienz</a:t>
            </a:r>
          </a:p>
          <a:p>
            <a:pPr lvl="0"/>
            <a:r>
              <a:rPr/>
              <a:t>Safety vs. Security</a:t>
            </a:r>
          </a:p>
          <a:p>
            <a:pPr lvl="0"/>
            <a:r>
              <a:rPr/>
              <a:t>Technische Resilienzprinzipien</a:t>
            </a:r>
          </a:p>
          <a:p>
            <a:pPr lvl="0"/>
            <a:r>
              <a:rPr/>
              <a:t>Physikalisch-systemische Perspektive</a:t>
            </a:r>
          </a:p>
          <a:p>
            <a:pPr lvl="0"/>
            <a:r>
              <a:rPr/>
              <a:t>Praktische Beispiele &amp; Fallstudien</a:t>
            </a:r>
          </a:p>
          <a:p>
            <a:pPr lvl="0"/>
            <a:r>
              <a:rPr/>
              <a:t>Übung und Reflexionsfragen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Resilienz wichtig ist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IT-Systeme sind nie vollkommen sicher.</a:t>
            </a:r>
          </a:p>
          <a:p>
            <a:pPr lvl="0" indent="0" marL="0">
              <a:buNone/>
            </a:pPr>
            <a:r>
              <a:rPr/>
              <a:t>Angriffe, Ausfälle und Fehlbedienungen sind unvermeidlich.</a:t>
            </a:r>
          </a:p>
          <a:p>
            <a:pPr lvl="0" indent="0" marL="0">
              <a:buNone/>
            </a:pPr>
            <a:r>
              <a:rPr b="1"/>
              <a:t>Entscheidend ist: Wie schnell können wir uns erholen und weiterarbeiten?</a:t>
            </a:r>
          </a:p>
          <a:p>
            <a:pPr lvl="0" indent="0" marL="0">
              <a:buNone/>
            </a:pPr>
            <a:r>
              <a:rPr/>
              <a:t>Diskussionsfrage: Wie lange darf euer Lieblingsspiel down sein?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 Resilienz?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= Widerstands- und Anpassungsfähigkeit bei Störungen.</a:t>
            </a:r>
          </a:p>
          <a:p>
            <a:pPr lvl="0"/>
            <a:r>
              <a:rPr/>
              <a:t>Herkunft: Physik, Psychologie, Systemtheorie – heute technische und organisatorische Systeme.</a:t>
            </a:r>
          </a:p>
          <a:p>
            <a:pPr lvl="0"/>
            <a:r>
              <a:rPr/>
              <a:t>In der IT: Systeme bleiben trotz Störungen funktionsfähig oder erholen sich schnell.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vs. Security – der Unterschied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Safety:</a:t>
            </a:r>
            <a:r>
              <a:rPr/>
              <a:t> Schutz vor unbeabsichtigten Fehlern und Unfällen – Hardwaredefekt, Stromausfall, Brand.</a:t>
            </a:r>
          </a:p>
          <a:p>
            <a:pPr lvl="0" indent="0" marL="0">
              <a:buNone/>
            </a:pPr>
            <a:r>
              <a:rPr b="1"/>
              <a:t>Security:</a:t>
            </a:r>
            <a:r>
              <a:rPr/>
              <a:t> Schutz vor absichtlichen Angriffen – Ransomware, Social Engineering, Hacking.</a:t>
            </a:r>
          </a:p>
          <a:p>
            <a:pPr lvl="0" indent="0" marL="0">
              <a:buNone/>
            </a:pPr>
            <a:r>
              <a:rPr/>
              <a:t>Beide beeinflussen die Resilienz eines Systems.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verbindet beides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Ziel: nicht Unverwundbarkeit, sondern Reaktions- und Wiederherstellungsfähigkeit.</a:t>
            </a:r>
          </a:p>
          <a:p>
            <a:pPr lvl="0" indent="0" marL="0">
              <a:buNone/>
            </a:pPr>
            <a:r>
              <a:rPr b="1"/>
              <a:t>Safety + Security + Adaptivität = Resilienz</a:t>
            </a:r>
          </a:p>
          <a:p>
            <a:pPr lvl="0" indent="0" marL="0">
              <a:buNone/>
            </a:pPr>
            <a:r>
              <a:rPr/>
              <a:t>Fokus: robust designen, Störungen erkennen, reagieren, wiederherstellen.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Physikalische Perspektive (Analogie)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Pendel / Schwingkreis: Störung → Auslenkung → Rückkehr zur Balance.</a:t>
            </a:r>
          </a:p>
          <a:p>
            <a:pPr lvl="0"/>
            <a:r>
              <a:rPr/>
              <a:t>Elastizität vs. Fragilität: Gummi vs. Glas.</a:t>
            </a:r>
          </a:p>
          <a:p>
            <a:pPr lvl="0"/>
            <a:r>
              <a:rPr/>
              <a:t>Übertragung auf IT-Systeme und Organisationen: Monitoring, Alerting und Autoscaling wirken wie Regelkreise.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Technische Resilienzprinzipien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Redundanz</a:t>
            </a:r>
            <a:r>
              <a:rPr/>
              <a:t> – mehrere Wege und Komponenten</a:t>
            </a:r>
          </a:p>
          <a:p>
            <a:pPr lvl="0"/>
            <a:r>
              <a:rPr b="1"/>
              <a:t>Diversität</a:t>
            </a:r>
            <a:r>
              <a:rPr/>
              <a:t> – heterogene Komponenten reduzieren Kaskadenfehler</a:t>
            </a:r>
          </a:p>
          <a:p>
            <a:pPr lvl="0"/>
            <a:r>
              <a:rPr b="1"/>
              <a:t>Wiederherstellbarkeit</a:t>
            </a:r>
            <a:r>
              <a:rPr/>
              <a:t> – Backups, DR-Prozesse, Automatisierung</a:t>
            </a:r>
          </a:p>
          <a:p>
            <a:pPr lvl="0"/>
            <a:r>
              <a:rPr b="1"/>
              <a:t>Adaptivität</a:t>
            </a:r>
            <a:r>
              <a:rPr/>
              <a:t> – Skalierung, Umschalten, Lernen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&amp; Security in Cyber-Systemen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Beispiele: Smart Home, autonome Fahrzeuge, Cloud-Gaming</a:t>
            </a:r>
          </a:p>
          <a:p>
            <a:pPr lvl="0"/>
            <a:r>
              <a:rPr/>
              <a:t>Risikoanalyse: Wo kippt Safety in Security und umgekehrt?</a:t>
            </a:r>
          </a:p>
          <a:p>
            <a:pPr lvl="0"/>
            <a:r>
              <a:rPr/>
              <a:t>Priorisierung kritischer Funktionen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Prävention nicht reicht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Zero-Days, Lieferketten, menschliche Fehler</a:t>
            </a:r>
          </a:p>
          <a:p>
            <a:pPr lvl="0"/>
            <a:r>
              <a:rPr/>
              <a:t>100 % Prävention gibt es nicht.</a:t>
            </a:r>
          </a:p>
          <a:p>
            <a:pPr lvl="0"/>
            <a:r>
              <a:rPr b="1"/>
              <a:t>Resilienz ist die letzte Verteidigungslinie.</a:t>
            </a:r>
          </a:p>
          <a:p>
            <a:pPr lvl="0" indent="0" marL="0">
              <a:buNone/>
            </a:pPr>
            <a:r>
              <a:rPr/>
              <a:t>„Sicherheit schützt – Resilienz überlebt.“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Relevanz für Cyber Security Management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ist ein Management- und Architekturthema.</a:t>
            </a:r>
          </a:p>
          <a:p>
            <a:pPr lvl="0"/>
            <a:r>
              <a:rPr/>
              <a:t>Einbettung in Standards und Frameworks: NIST, ISO/IEC 27031, BSI 200-4, ENISA.</a:t>
            </a:r>
          </a:p>
          <a:p>
            <a:pPr lvl="0"/>
            <a:r>
              <a:rPr/>
              <a:t>Verbindung zu Incident Response, BCM und IT Service Continuity Management.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Praxisbeispiele (Diskussion)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Ransomware in der Verwaltung</a:t>
            </a:r>
            <a:r>
              <a:rPr/>
              <a:t> – Recovery und Kommunikation sind entscheidend: offline verifizierte Backups, priorisierter Wiederanlauf nach BCM-Plan.</a:t>
            </a:r>
          </a:p>
          <a:p>
            <a:pPr lvl="0" indent="0" marL="0">
              <a:buNone/>
            </a:pPr>
            <a:r>
              <a:rPr b="1"/>
              <a:t>DDoS auf einen Online-Service</a:t>
            </a:r>
            <a:r>
              <a:rPr/>
              <a:t> – Skalierung und Traffic-Filterung: CDN, WAF, elastische Kapazität, transparente Statuskommunikation.</a:t>
            </a:r>
          </a:p>
          <a:p>
            <a:pPr lvl="0" indent="0" marL="0">
              <a:buNone/>
            </a:pPr>
            <a:r>
              <a:rPr b="1"/>
              <a:t>Frage:</a:t>
            </a:r>
            <a:r>
              <a:rPr/>
              <a:t> Welche Maßnahmen beschleunigen die Wiederherstellung?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Safety oder Security?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Gruppenaufgabe mit Szenarien: Cloud-Gaming, Krankenhaus-IT, Smart Home, Auto, Banking-App.</a:t>
            </a:r>
          </a:p>
          <a:p>
            <a:pPr lvl="0" indent="-457200" marL="457200">
              <a:buAutoNum type="arabicPeriod"/>
            </a:pPr>
            <a:r>
              <a:rPr/>
              <a:t>Risiken identifizieren</a:t>
            </a:r>
          </a:p>
          <a:p>
            <a:pPr lvl="0" indent="-457200" marL="457200">
              <a:buAutoNum type="arabicPeriod"/>
            </a:pPr>
            <a:r>
              <a:rPr/>
              <a:t>Safety vs. Security zuordnen</a:t>
            </a:r>
          </a:p>
          <a:p>
            <a:pPr lvl="0" indent="-457200" marL="457200">
              <a:buAutoNum type="arabicPeriod"/>
            </a:pPr>
            <a:r>
              <a:rPr/>
              <a:t>Resilienzmaßnahmen vorschlagen</a:t>
            </a:r>
          </a:p>
          <a:p>
            <a:pPr lvl="0" indent="0" marL="0">
              <a:buNone/>
            </a:pPr>
            <a:r>
              <a:rPr/>
              <a:t>5-Minuten-Kurzpräsentation pro Gruppe.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Ausblick &amp; Hausaufgabe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Zusammenfassung:</a:t>
            </a:r>
            <a:r>
              <a:rPr/>
              <a:t> Safety ≠ Security – Resilienz integriert beides.</a:t>
            </a:r>
          </a:p>
          <a:p>
            <a:pPr lvl="0" indent="0" marL="0">
              <a:buNone/>
            </a:pPr>
            <a:r>
              <a:rPr b="1"/>
              <a:t>Nächste Sitzung:</a:t>
            </a:r>
            <a:r>
              <a:rPr/>
              <a:t> Modelle und Messbarkeit der Resilienz.</a:t>
            </a:r>
          </a:p>
          <a:p>
            <a:pPr lvl="0" indent="0" marL="0">
              <a:buNone/>
            </a:pPr>
            <a:r>
              <a:rPr b="1"/>
              <a:t>Hausaufgabe:</a:t>
            </a:r>
            <a:r>
              <a:rPr/>
              <a:t> Ein Beispiel recherchieren, das sich nach einer Störung besonders schnell erholte.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Kapitel zum Termin</a:t>
            </a:r>
            <a:r>
              <a:rPr/>
              <a:t> · </a:t>
            </a:r>
            <a:r>
              <a:rPr>
                <a:hlinkClick r:id="rId4"/>
              </a:rPr>
              <a:t>Glossar</a:t>
            </a:r>
            <a:r>
              <a:rPr/>
              <a:t> · </a:t>
            </a:r>
            <a:r>
              <a:rPr>
                <a:hlinkClick r:id="rId5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Grundlagen der Resilienz</dc:title>
  <dc:creator>Prof. Dr. Dirk Loomans</dc:creator>
  <cp:keywords/>
  <dcterms:created xsi:type="dcterms:W3CDTF">2026-09-29T09:05:16Z</dcterms:created>
  <dcterms:modified xsi:type="dcterms:W3CDTF">2026-09-29T09:05:16Z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1</vt:lpwstr>
  </property>
  <property fmtid="{D5CDD505-2E9C-101B-9397-08002B2CF9AE}" pid="14" name="toc-title">
    <vt:lpwstr>Inhaltsverzeichnis</vt:lpwstr>
  </property>
</Properties>
</file>