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notesMaster" Target="notesMasters/notesMaster1.xml" /><Relationship Id="rId34" Type="http://schemas.openxmlformats.org/officeDocument/2006/relationships/presProps" Target="presProps.xml" /><Relationship Id="rId37" Type="http://schemas.openxmlformats.org/officeDocument/2006/relationships/tableStyles" Target="tableStyles.xml" /><Relationship Id="rId35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3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Aktuelles Kennwort vor der Veranstaltung eintragen. Das Kennwort des Vorsemesters wurde aus dem Foliensatz entfernt.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Bild hier bewusst NICHT auflösen. Frage: „Was hat ein Sektkeller mit Cyber-Resilienz zu tun?“ – Auflösung bei der Folie „Wiederherstellbarkeit: Das Kupferberg-Problem“.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Lernziele 1:1 aus dem Skript. Kurz auf Prüfungsrelevanz hinweisen – Lernfragen stehen am Ende des Skripts.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Server-Ausfälle beim Zocken als Einstieg. Ausfälle sind normal, Erholungsfähigkeit zählt. Überleitung zum CrowdStrike-Beispiel.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Plenum: Wer war selbst betroffen (Flug, Arztpraxis, Supermarkt)? Pointe: Ein Security-Produkt verursacht ein Safety-Ereignis – Brücke zu Safety vs. Security. Recovery erforderte vielfach physischen Zugriff (abgesicherter Modus, Datei löschen), BitLocker-Schlüssel wurden zum Engpass.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definieren, Herkunft erwähnen, Alltagsbeispiele abfragen.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Lernziel 1 / Prüfungsfrage 1. Robust = widersteht bis zum Bruch; resilient = darf nachgeben, kehrt aber zurück und passt sich an. Ein robustes System kann spröde versagen (Glas), ein resilientes degradiert kontrolliert.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Gemeinsamer Kern über alle Disziplinen: Störung – Absorption – Rückkehr – Anpassung. Kauai: Kinder, die sich trotz widriger Umstände gut entwickelten.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Hollnagel. Soziotechnische Sicht: Menschen und Prozesse gehören dazu. „Learn“ ist das, was Resilienz von reiner Robustheit unterscheidet.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Teaser für Sitzung 2: Wiederherstellungszeit (RTO, MTTR) und Tiefe des Einbruchs lassen sich messen. Frage: Welche Maßnahme verkleinert welche Teilfläche?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vs. Security sammeln. Resilienz wird von beidem beeinflusst.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Mini-Case-Diskussion. In vernetzten OT/IoT-Systemen verschwimmt die Grenze. Priorisierung kritischer Funktionen und Abhängigkeiten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Physik-Analogie (Pendel/Schwingkreis). Fragil vs. resilient.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Physik-Analogie konkret machen. Unterdämpft = Flapping (Instanzen werden ständig hoch- und runtergefahren), überdämpft = Reaktion zu langsam. Brücke zu SLOs in Sitzung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Überblick, die vier Prinzipien werden auf den nächsten Folien je mit einem Fall unterlegt.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Rückbezug auf CrowdStrike: Monokultur bei Betriebssystem und Sicherheitssoftware ist dieselbe Falle im Großformat. Frage: Wo ist eure Redundanz in Wahrheit eine Kopie?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Auflösung des Agenda-Bilds. „Schrödingers Backup“: Zustand erst beim Restore bekannt. Drei Lehren: (1) Restore regelmäßig testen, (2) ohne Inventar/Dokumentation keine Wiederherstellung, (3) ein ungepflegter Fallback kann selbst zum Risiko werden – enge Kopplung führt zur Kaskade (Safety!).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Gegenstück zu Kupferberg: Hier hat ein unbeabsichtigtes Offline-Backup gerettet – Zufall statt Plan. Lehre: Offline- bzw. unveränderliche Backups der Identitätsinfrastruktur, festgelegte Wiederanlaufreihenfolge.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Wer Störungen selbst kontrolliert herbeiführt, ist auf echte vorbereitet. Bezug zu Hollnagel: Learn. Vertiefung in Sitzung 7 (Notfalltests).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100 % Prävention nicht existiert. Merksatz und NIST-Gedanke: Detect – Respond – Recover ergänzen die Prävention.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Pointe: Das Wort „Resilienz“ steht inzwischen im Titel von EU-Rechtsakten. Nur Landkarte zeigen, Vertiefung in späteren Sitzungen (Rollen und Verantwortlichkeiten).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Management-Verantwortung betonen, Ausblick auf spätere Sitzungen.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läuft zuerst wieder an? (Sozialleistungen vor Kfz-Zulassung?) Abhängigkeit von einem Dienstleister = fehlende Diversität auf Organisationsebene.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Schließt den Kreis zum Smart Home: unsichere Kameras als Angriffswaffe. Frage: Wie würdet ihr erkennen, dass es ein Angriff und kein Lastspitzen-Erfolg ist?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Aufgabenstellung klar, Gruppen bilden, Zeitrahmen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Kernpunkte aus dem Skript. Kurz zurück auf Kupferberg, Ariane und Maersk verweisen: je ein Fall pro Prinzip.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Hausaufgabe, Teaser auf Sitzung 2 – die Resilienzkurve wird dort messbar.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4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25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6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2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2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30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3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2.jp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3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3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3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3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24.jp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3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3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39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4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5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6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7.xml" /><Relationship Id="rId3" Type="http://schemas.openxmlformats.org/officeDocument/2006/relationships/hyperlink" Target="../../../termine/01.html" TargetMode="External" /><Relationship Id="rId4" Type="http://schemas.openxmlformats.org/officeDocument/2006/relationships/hyperlink" Target="../../../glossar.html" TargetMode="External" /><Relationship Id="rId5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Grundlagen der Resilienz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1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…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Prof. Dr. Dirk Loomans</a:t>
            </a:r>
            <a:r>
              <a:rPr/>
              <a:t>, Diplom-Physiker</a:t>
            </a:r>
          </a:p>
          <a:p>
            <a:pPr lvl="0"/>
            <a:r>
              <a:rPr/>
              <a:t>Studium Physik und Informatik (Bayreuth), Promotion in theoretischer Polymerphysik (Freiburg).</a:t>
            </a:r>
          </a:p>
          <a:p>
            <a:pPr lvl="0"/>
            <a:r>
              <a:rPr/>
              <a:t>ehem. Partner Cyber Security and Resilience bei KPMG, CEO Loomans &amp; Matz, CISO Infineon</a:t>
            </a:r>
          </a:p>
          <a:p>
            <a:pPr lvl="0"/>
            <a:r>
              <a:rPr/>
              <a:t>Hochschule Mainz, Fachbereich Wirtschaft: Wirtschaftsinformatik, insbesondere Cyber Security und Softwareentwicklung (WiSe 2011/12 – SoSe 2015 und seit SoSe 2025)</a:t>
            </a:r>
          </a:p>
          <a:p>
            <a:pPr lvl="0"/>
            <a:r>
              <a:rPr/>
              <a:t>Lehre: Projektmanagement, Cyber-Resilienz, IT-Security, Digital Business</a:t>
            </a:r>
          </a:p>
          <a:p>
            <a:pPr lvl="0"/>
            <a:r>
              <a:rPr/>
              <a:t>Forschung: KI und Cyber, Digitale Souveränität</a:t>
            </a:r>
          </a:p>
          <a:p>
            <a:pPr lvl="0"/>
            <a:r>
              <a:rPr/>
              <a:t>Fun Fact: Hobbybrauer und Fastnachts-Aficionado</a:t>
            </a:r>
          </a:p>
        </p:txBody>
      </p:sp>
      <p:pic>
        <p:nvPicPr>
          <p:cNvPr descr="assets/DIrk%20Loomans%20neu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38900" y="1841500"/>
            <a:ext cx="51181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Zugang zum Kurs in OLAT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Kursunterlagen, Skripte und Ankündigungen liegen in OLAT.</a:t>
            </a:r>
          </a:p>
          <a:p>
            <a:pPr lvl="0" indent="0" marL="0">
              <a:buNone/>
            </a:pPr>
            <a:r>
              <a:rPr/>
              <a:t>Zugangskennwort: CSMWS26ECR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Semesterüberblick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Grundlagen der Resilienz: Safety &amp; Security</a:t>
            </a:r>
            <a:r>
              <a:rPr/>
              <a:t> ← heute</a:t>
            </a:r>
          </a:p>
          <a:p>
            <a:pPr lvl="0" indent="-457200" marL="457200">
              <a:buAutoNum type="arabicPeriod"/>
            </a:pPr>
            <a:r>
              <a:rPr/>
              <a:t>Modelle und Messbarkeit</a:t>
            </a:r>
          </a:p>
          <a:p>
            <a:pPr lvl="0" indent="-457200" marL="457200">
              <a:buAutoNum type="arabicPeriod"/>
            </a:pPr>
            <a:r>
              <a:rPr/>
              <a:t>Resilienz-Architekturen</a:t>
            </a:r>
          </a:p>
          <a:p>
            <a:pPr lvl="0" indent="-457200" marL="457200">
              <a:buAutoNum type="arabicPeriod"/>
            </a:pPr>
            <a:r>
              <a:rPr/>
              <a:t>Cyber-Bedrohungen und Resilienzstrategien</a:t>
            </a:r>
          </a:p>
          <a:p>
            <a:pPr lvl="0" indent="-457200" marL="457200">
              <a:buAutoNum type="arabicPeriod"/>
            </a:pPr>
            <a:r>
              <a:rPr/>
              <a:t>Resilienz als Organisationsfähigkeit</a:t>
            </a:r>
          </a:p>
          <a:p>
            <a:pPr lvl="0" indent="-457200" marL="457200">
              <a:buAutoNum type="arabicPeriod"/>
            </a:pPr>
            <a:r>
              <a:rPr/>
              <a:t>Rollen und Verantwortlichkeiten</a:t>
            </a:r>
          </a:p>
          <a:p>
            <a:pPr lvl="0" indent="-457200" marL="457200">
              <a:buAutoNum type="arabicPeriod"/>
            </a:pPr>
            <a:r>
              <a:rPr/>
              <a:t>Technische Resilienz I: Backup, DR, Notfalltests</a:t>
            </a:r>
          </a:p>
          <a:p>
            <a:pPr lvl="0" indent="-457200" marL="457200">
              <a:buAutoNum type="arabicPeriod"/>
            </a:pPr>
            <a:r>
              <a:rPr/>
              <a:t>Technische Resilienz II: Zero Trust, Microsegmentation, Cloud, Netz</a:t>
            </a:r>
          </a:p>
          <a:p>
            <a:pPr lvl="0" indent="-457200" marL="457200">
              <a:buAutoNum type="arabicPeriod"/>
            </a:pPr>
            <a:r>
              <a:rPr/>
              <a:t>Sonderthemen OT und KI · 10. Resilienz der Zukunft · 11. Klausur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Einleitung &amp; Lernziele</a:t>
            </a:r>
          </a:p>
          <a:p>
            <a:pPr lvl="0"/>
            <a:r>
              <a:rPr/>
              <a:t>Begriff und Herkunft der Resilienz</a:t>
            </a:r>
          </a:p>
          <a:p>
            <a:pPr lvl="0"/>
            <a:r>
              <a:rPr/>
              <a:t>Safety vs. Security</a:t>
            </a:r>
          </a:p>
          <a:p>
            <a:pPr lvl="0"/>
            <a:r>
              <a:rPr/>
              <a:t>Physikalisch-systemische Perspektive</a:t>
            </a:r>
          </a:p>
          <a:p>
            <a:pPr lvl="0"/>
            <a:r>
              <a:rPr/>
              <a:t>Technische Resilienzprinzipien</a:t>
            </a:r>
          </a:p>
          <a:p>
            <a:pPr lvl="0"/>
            <a:r>
              <a:rPr/>
              <a:t>Standards und Regulierung</a:t>
            </a:r>
          </a:p>
          <a:p>
            <a:pPr lvl="0"/>
            <a:r>
              <a:rPr/>
              <a:t>Fallstudien &amp; Übung</a:t>
            </a:r>
          </a:p>
          <a:p>
            <a:pPr lvl="0"/>
            <a:r>
              <a:rPr/>
              <a:t>Zusammenfassung &amp; Ausblick</a:t>
            </a:r>
          </a:p>
        </p:txBody>
      </p:sp>
      <p:pic>
        <p:nvPicPr>
          <p:cNvPr descr="assets/500000-flaschen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515100" y="1841500"/>
            <a:ext cx="4978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97600" y="5575300"/>
            <a:ext cx="5613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Flaschenlager Kupferberg, Mainz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Lernziele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Nach dieser Sitzung können Sie …</a:t>
            </a:r>
          </a:p>
          <a:p>
            <a:pPr lvl="0"/>
            <a:r>
              <a:rPr/>
              <a:t>den Begriff </a:t>
            </a:r>
            <a:r>
              <a:rPr b="1"/>
              <a:t>Resilienz</a:t>
            </a:r>
            <a:r>
              <a:rPr/>
              <a:t> definieren und von Robustheit, Zuverlässigkeit und Sicherheit abgrenzen,</a:t>
            </a:r>
          </a:p>
          <a:p>
            <a:pPr lvl="0"/>
            <a:r>
              <a:rPr/>
              <a:t>den Unterschied zwischen </a:t>
            </a:r>
            <a:r>
              <a:rPr b="1"/>
              <a:t>Safety</a:t>
            </a:r>
            <a:r>
              <a:rPr/>
              <a:t> und </a:t>
            </a:r>
            <a:r>
              <a:rPr b="1"/>
              <a:t>Security</a:t>
            </a:r>
            <a:r>
              <a:rPr/>
              <a:t> erläutern,</a:t>
            </a:r>
          </a:p>
          <a:p>
            <a:pPr lvl="0"/>
            <a:r>
              <a:rPr/>
              <a:t>technische und organisatorische </a:t>
            </a:r>
            <a:r>
              <a:rPr b="1"/>
              <a:t>Resilienzprinzipien</a:t>
            </a:r>
            <a:r>
              <a:rPr/>
              <a:t> benennen und anwenden,</a:t>
            </a:r>
          </a:p>
          <a:p>
            <a:pPr lvl="0"/>
            <a:r>
              <a:rPr/>
              <a:t>Resilienz in </a:t>
            </a:r>
            <a:r>
              <a:rPr b="1"/>
              <a:t>Cyber-Security-Management, Business Continuity und Incident Response</a:t>
            </a:r>
            <a:r>
              <a:rPr/>
              <a:t> einordnen.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Resilienz wichtig ist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IT-Systeme sind nie vollkommen sicher.</a:t>
            </a:r>
          </a:p>
          <a:p>
            <a:pPr lvl="0" indent="0" marL="0">
              <a:buNone/>
            </a:pPr>
            <a:r>
              <a:rPr/>
              <a:t>Angriffe, Ausfälle und Fehlbedienungen sind unvermeidlich.</a:t>
            </a:r>
          </a:p>
          <a:p>
            <a:pPr lvl="0" indent="0" marL="0">
              <a:buNone/>
            </a:pPr>
            <a:r>
              <a:rPr b="1"/>
              <a:t>Entscheidend ist: Wie schnell können wir uns erholen und weiterarbeiten?</a:t>
            </a:r>
          </a:p>
          <a:p>
            <a:pPr lvl="0" indent="0" marL="0">
              <a:buNone/>
            </a:pPr>
            <a:r>
              <a:rPr/>
              <a:t>Diskussionsfrage: Wie lange darf euer Lieblingsspiel down sein?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Ausfälle sind normal: 19. Juli 2024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Ein fehlerhaftes Update einer </a:t>
            </a:r>
            <a:r>
              <a:rPr b="1"/>
              <a:t>Sicherheitssoftware</a:t>
            </a:r>
            <a:r>
              <a:rPr/>
              <a:t> (CrowdStrike Falcon)</a:t>
            </a:r>
          </a:p>
          <a:p>
            <a:pPr lvl="0"/>
            <a:r>
              <a:rPr/>
              <a:t>Rund 8,5 Mio. Windows-Rechner bleiben im Bluescreen hängen – Flughäfen, Kliniken, Banken, Sender</a:t>
            </a:r>
          </a:p>
          <a:p>
            <a:pPr lvl="0"/>
            <a:r>
              <a:rPr/>
              <a:t>Kein Angriff – und trotzdem ein massiver Sicherheitsvorfall</a:t>
            </a:r>
          </a:p>
          <a:p>
            <a:pPr lvl="0"/>
            <a:r>
              <a:rPr/>
              <a:t>Wiederherstellung oft nur manuell, Rechner für Rechner</a:t>
            </a:r>
          </a:p>
        </p:txBody>
      </p:sp>
      <p:pic>
        <p:nvPicPr>
          <p:cNvPr descr="assets/bluescreen-abflugtafel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bedeutet Resilienz?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= Widerstands- und Anpassungsfähigkeit bei Störungen.</a:t>
            </a:r>
          </a:p>
          <a:p>
            <a:pPr lvl="0"/>
            <a:r>
              <a:rPr/>
              <a:t>Herkunft: Physik, Psychologie, Systemtheorie – heute technische und organisatorische Systeme.</a:t>
            </a:r>
          </a:p>
          <a:p>
            <a:pPr lvl="0"/>
            <a:r>
              <a:rPr/>
              <a:t>In der IT: Systeme bleiben trotz Störungen funktionsfähig oder erholen sich schnell.</a:t>
            </a:r>
          </a:p>
        </p:txBody>
      </p:sp>
      <p:pic>
        <p:nvPicPr>
          <p:cNvPr descr="assets/cyber-resilience-lifecycle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705600" y="1841500"/>
            <a:ext cx="45974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ist nicht dasselbe wie …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00076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0100"/>
                <a:gridCol w="3340100"/>
                <a:gridCol w="3340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Begriff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Leitfrage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Robustheit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Hält das System der Störung stand, ohne nachzugeben?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Zuverlässigkeit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Funktioniert es unter Normalbedingungen dauerhaft?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Uhrwerk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Sicherheit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Ist es vor Schäden und Angriffen geschützt?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Tresor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Resilienz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Bleibt es funktionsfähig, erholt es sich – und lernt es?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Bambus im Sturm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Woher kommt der Begriff?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Materialwissenschaft</a:t>
            </a:r>
            <a:r>
              <a:rPr/>
              <a:t> (19. Jh.): Rückfederung nach Verformung</a:t>
            </a:r>
          </a:p>
          <a:p>
            <a:pPr lvl="0"/>
            <a:r>
              <a:rPr b="1"/>
              <a:t>Psychologie</a:t>
            </a:r>
            <a:r>
              <a:rPr/>
              <a:t>: Emmy Werner, Kauai-Längsschnittstudie (ab 1955)</a:t>
            </a:r>
          </a:p>
          <a:p>
            <a:pPr lvl="0"/>
            <a:r>
              <a:rPr b="1"/>
              <a:t>Ökologie</a:t>
            </a:r>
            <a:r>
              <a:rPr/>
              <a:t>: C. S. Holling (1973) – Ökosysteme absorbieren Störungen</a:t>
            </a:r>
          </a:p>
          <a:p>
            <a:pPr lvl="0"/>
            <a:r>
              <a:rPr b="1"/>
              <a:t>Resilience Engineering</a:t>
            </a:r>
            <a:r>
              <a:rPr/>
              <a:t>: Hollnagel, Woods &amp; Leveson (2006)</a:t>
            </a:r>
          </a:p>
          <a:p>
            <a:pPr lvl="0"/>
            <a:r>
              <a:rPr b="1"/>
              <a:t>Cyber</a:t>
            </a:r>
            <a:r>
              <a:rPr/>
              <a:t>: NIST SP 800-160 Vol. 2 (2019, Rev. 1 2021)</a:t>
            </a:r>
          </a:p>
        </p:txBody>
      </p:sp>
      <p:pic>
        <p:nvPicPr>
          <p:cNvPr descr="assets/begriffsgeschichte-zeitleist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968500"/>
            <a:ext cx="56134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Resilience Engineering: vier Fähigkeiten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Anticipate</a:t>
            </a:r>
            <a:r>
              <a:rPr/>
              <a:t> – Was könnte passieren?</a:t>
            </a:r>
          </a:p>
          <a:p>
            <a:pPr lvl="0"/>
            <a:r>
              <a:rPr b="1"/>
              <a:t>Monitor</a:t>
            </a:r>
            <a:r>
              <a:rPr/>
              <a:t> – Worauf müssen wir achten?</a:t>
            </a:r>
          </a:p>
          <a:p>
            <a:pPr lvl="0"/>
            <a:r>
              <a:rPr b="1"/>
              <a:t>Respond</a:t>
            </a:r>
            <a:r>
              <a:rPr/>
              <a:t> – Was tun wir jetzt?</a:t>
            </a:r>
          </a:p>
          <a:p>
            <a:pPr lvl="0"/>
            <a:r>
              <a:rPr b="1"/>
              <a:t>Learn</a:t>
            </a:r>
            <a:r>
              <a:rPr/>
              <a:t> – Was lernen wir daraus?</a:t>
            </a:r>
          </a:p>
          <a:p>
            <a:pPr lvl="0" indent="0" marL="0">
              <a:buNone/>
            </a:pPr>
            <a:r>
              <a:rPr/>
              <a:t>Resilienz ist etwas, das ein System </a:t>
            </a:r>
            <a:r>
              <a:rPr b="1"/>
              <a:t>tut</a:t>
            </a:r>
            <a:r>
              <a:rPr/>
              <a:t> – nicht etwas, das es </a:t>
            </a:r>
            <a:r>
              <a:rPr b="1"/>
              <a:t>hat</a:t>
            </a:r>
            <a:r>
              <a:rPr/>
              <a:t>.</a:t>
            </a:r>
          </a:p>
        </p:txBody>
      </p:sp>
      <p:pic>
        <p:nvPicPr>
          <p:cNvPr descr="assets/hollnagel-vier-faehigkeit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968500"/>
            <a:ext cx="56134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Resilienzkurve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Störung → Leistungsabfall → degradierter Betrieb → Wiederherstellung → Anpassung</a:t>
            </a:r>
          </a:p>
          <a:p>
            <a:pPr lvl="0"/>
            <a:r>
              <a:rPr/>
              <a:t>NIST-Ziele: </a:t>
            </a:r>
            <a:r>
              <a:rPr b="1"/>
              <a:t>Anticipate, Withstand, Recover, Adapt</a:t>
            </a:r>
          </a:p>
          <a:p>
            <a:pPr lvl="0"/>
            <a:r>
              <a:rPr/>
              <a:t>Die Fläche „fehlender Leistung“ ist der Schaden</a:t>
            </a:r>
          </a:p>
          <a:p>
            <a:pPr lvl="0"/>
            <a:r>
              <a:rPr/>
              <a:t>Resilienz heißt: Abfall flacher, Erholung schneller, danach besser</a:t>
            </a:r>
          </a:p>
        </p:txBody>
      </p:sp>
      <p:pic>
        <p:nvPicPr>
          <p:cNvPr descr="assets/resilienzkurv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993900"/>
            <a:ext cx="5613400" cy="392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vs. Security – der Unterschied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Safety:</a:t>
            </a:r>
            <a:r>
              <a:rPr/>
              <a:t> Schutz vor unbeabsichtigten Fehlern und Unfällen – Hardwaredefekt, Stromausfall, Brand.</a:t>
            </a:r>
          </a:p>
          <a:p>
            <a:pPr lvl="0" indent="0" marL="0">
              <a:buNone/>
            </a:pPr>
            <a:r>
              <a:rPr b="1"/>
              <a:t>Security:</a:t>
            </a:r>
            <a:r>
              <a:rPr/>
              <a:t> Schutz vor absichtlichen Angriffen – Ransomware, Social Engineering, Hacking.</a:t>
            </a:r>
          </a:p>
          <a:p>
            <a:pPr lvl="0" indent="0" marL="0">
              <a:buNone/>
            </a:pPr>
            <a:r>
              <a:rPr/>
              <a:t>Beide beeinflussen die Resilienz eines Systems.</a:t>
            </a:r>
          </a:p>
        </p:txBody>
      </p:sp>
      <p:pic>
        <p:nvPicPr>
          <p:cNvPr descr="assets/safety-vs-security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858000" y="1841500"/>
            <a:ext cx="429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Safety und Security sich treffen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Security → Safety:</a:t>
            </a:r>
            <a:r>
              <a:rPr/>
              <a:t> Stuxnet (2010) – Schadcode zerstört Uranzentrifugen physisch</a:t>
            </a:r>
          </a:p>
          <a:p>
            <a:pPr lvl="0"/>
            <a:r>
              <a:rPr b="1"/>
              <a:t>Security → Versorgung:</a:t>
            </a:r>
            <a:r>
              <a:rPr/>
              <a:t> Colonial Pipeline (2021) – Ransomware in der IT, Pipeline (OT) vorsorglich abgeschaltet, Treibstoffengpässe an der US-Ostküste</a:t>
            </a:r>
          </a:p>
          <a:p>
            <a:pPr lvl="0"/>
            <a:r>
              <a:rPr b="1"/>
              <a:t>Safety → Security:</a:t>
            </a:r>
            <a:r>
              <a:rPr/>
              <a:t> Notbetrieb und Fail-open öffnen Angriffsflächen</a:t>
            </a:r>
          </a:p>
          <a:p>
            <a:pPr lvl="0"/>
            <a:r>
              <a:rPr/>
              <a:t>Frage: Wo kippt es bei Smart Home, Auto, Cloud-Gaming?</a:t>
            </a:r>
          </a:p>
        </p:txBody>
      </p:sp>
      <p:pic>
        <p:nvPicPr>
          <p:cNvPr descr="assets/safety-security-kipppunk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verbindet beides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Ziel: nicht Unverwundbarkeit, sondern Reaktions- und Wiederherstellungsfähigkeit.</a:t>
            </a:r>
          </a:p>
          <a:p>
            <a:pPr lvl="0" indent="0" marL="0">
              <a:buNone/>
            </a:pPr>
            <a:r>
              <a:rPr b="1"/>
              <a:t>Safety + Security + Adaptivität = Resilienz</a:t>
            </a:r>
          </a:p>
          <a:p>
            <a:pPr lvl="0" indent="0" marL="0">
              <a:buNone/>
            </a:pPr>
            <a:r>
              <a:rPr/>
              <a:t>Fokus: robust designen, Störungen erkennen, reagieren, wiederherstellen.</a:t>
            </a:r>
          </a:p>
        </p:txBody>
      </p:sp>
      <p:pic>
        <p:nvPicPr>
          <p:cNvPr descr="assets/safety-security-adaptivitae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Physikalische Perspektive (Analogie)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Pendel / Schwingkreis: Störung → Auslenkung → Rückkehr zur Balance.</a:t>
            </a:r>
          </a:p>
          <a:p>
            <a:pPr lvl="0"/>
            <a:r>
              <a:rPr/>
              <a:t>Elastizität vs. Fragilität: Gummi vs. Glas.</a:t>
            </a:r>
          </a:p>
          <a:p>
            <a:pPr lvl="0"/>
            <a:r>
              <a:rPr/>
              <a:t>Übertragung auf IT-Systeme und Organisationen: Monitoring, Alerting und Autoscaling wirken wie Regelkreise.</a:t>
            </a:r>
          </a:p>
        </p:txBody>
      </p:sp>
      <p:pic>
        <p:nvPicPr>
          <p:cNvPr descr="assets/pende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353300" y="1841500"/>
            <a:ext cx="33020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 Regelkreis im IT-Betrieb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56134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700"/>
                <a:gridCol w="2806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Regelungstechnik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IT-Betrieb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Sollwert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Level Objective (SLO)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Monitoring: Metriken, Logs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Alerting, Runbooks, SOAR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Stellglied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Autoscaling, Failover, Isolation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descr="assets/regelkreis-i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968500"/>
            <a:ext cx="56134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Technische Resilienzprinzipien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Redundanz</a:t>
            </a:r>
            <a:r>
              <a:rPr/>
              <a:t> – mehrere Wege und Komponenten</a:t>
            </a:r>
          </a:p>
          <a:p>
            <a:pPr lvl="0"/>
            <a:r>
              <a:rPr b="1"/>
              <a:t>Diversität</a:t>
            </a:r>
            <a:r>
              <a:rPr/>
              <a:t> – heterogene Komponenten reduzieren Kaskadenfehler</a:t>
            </a:r>
          </a:p>
          <a:p>
            <a:pPr lvl="0"/>
            <a:r>
              <a:rPr b="1"/>
              <a:t>Wiederherstellbarkeit</a:t>
            </a:r>
            <a:r>
              <a:rPr/>
              <a:t> – Backups, DR-Prozesse, Automatisierung</a:t>
            </a:r>
          </a:p>
          <a:p>
            <a:pPr lvl="0"/>
            <a:r>
              <a:rPr b="1"/>
              <a:t>Adaptivität</a:t>
            </a:r>
            <a:r>
              <a:rPr/>
              <a:t> – Skalierung, Umschalten, Lernen</a:t>
            </a:r>
          </a:p>
        </p:txBody>
      </p:sp>
      <p:pic>
        <p:nvPicPr>
          <p:cNvPr descr="../../assets/vier-prinzipi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375400" y="1841500"/>
            <a:ext cx="5257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Redundanz ohne Diversität: Ariane 5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Flug 501 (1996): zwei redundante Trägheitsnavigationssysteme</a:t>
            </a:r>
          </a:p>
          <a:p>
            <a:pPr lvl="0"/>
            <a:r>
              <a:rPr/>
              <a:t>Identische Software → identischer Fehler (Zahlenüberlauf), beide fallen kurz nacheinander aus</a:t>
            </a:r>
          </a:p>
          <a:p>
            <a:pPr lvl="0"/>
            <a:r>
              <a:rPr/>
              <a:t>Rakete zerstört sich nach ca. 37 Sekunden</a:t>
            </a:r>
          </a:p>
          <a:p>
            <a:pPr lvl="0"/>
            <a:r>
              <a:rPr/>
              <a:t>Redundanz schützt vor </a:t>
            </a:r>
            <a:r>
              <a:rPr b="1"/>
              <a:t>zufälligen</a:t>
            </a:r>
            <a:r>
              <a:rPr/>
              <a:t> Fehlern, nicht vor </a:t>
            </a:r>
            <a:r>
              <a:rPr b="1"/>
              <a:t>gemeinsamen Ursachen</a:t>
            </a:r>
            <a:r>
              <a:rPr/>
              <a:t> (Common Mode Failure)</a:t>
            </a:r>
          </a:p>
        </p:txBody>
      </p:sp>
      <p:pic>
        <p:nvPicPr>
          <p:cNvPr descr="assets/redundanz-vs-diversitae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968500"/>
            <a:ext cx="5613400" cy="397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Wiederherstellbarkeit: Das Kupferberg-Problem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1960: Kupferberg stellt auf Edelstahltanks um – das Flaschenlager bleibt als </a:t>
            </a:r>
            <a:r>
              <a:rPr b="1"/>
              <a:t>Fallback</a:t>
            </a:r>
          </a:p>
          <a:p>
            <a:pPr lvl="0"/>
            <a:r>
              <a:rPr/>
              <a:t>Heute weiß niemand mehr, welche Flaschen noch voll sind</a:t>
            </a:r>
          </a:p>
          <a:p>
            <a:pPr lvl="0"/>
            <a:r>
              <a:rPr/>
              <a:t>Bewegen? Flaschen könnten platzen – Kettenreaktion</a:t>
            </a:r>
          </a:p>
          <a:p>
            <a:pPr lvl="0" indent="0" marL="0">
              <a:buNone/>
            </a:pPr>
            <a:r>
              <a:rPr b="1"/>
              <a:t>Ein Backup, das nie getestet wurde, ist eine Hoffnung.</a:t>
            </a:r>
          </a:p>
        </p:txBody>
      </p:sp>
      <p:pic>
        <p:nvPicPr>
          <p:cNvPr descr="assets/500000-flaschen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854200"/>
            <a:ext cx="5613400" cy="421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Glück ist keine Strategie: Maersk &amp; NotPetya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Juni 2017: NotPetya – Wiper, getarnt als Ransomware, verbreitet über ukrainische Buchhaltungssoftware</a:t>
            </a:r>
          </a:p>
          <a:p>
            <a:pPr lvl="0"/>
            <a:r>
              <a:rPr/>
              <a:t>Maersk: Tausende Server, zehntausende PCs unbrauchbar, alle Domain Controller verschlüsselt – bis auf einen</a:t>
            </a:r>
          </a:p>
          <a:p>
            <a:pPr lvl="0"/>
            <a:r>
              <a:rPr/>
              <a:t>Der letzte stand in </a:t>
            </a:r>
            <a:r>
              <a:rPr b="1"/>
              <a:t>Ghana</a:t>
            </a:r>
            <a:r>
              <a:rPr/>
              <a:t> und war wegen eines Stromausfalls offline</a:t>
            </a:r>
          </a:p>
          <a:p>
            <a:pPr lvl="0"/>
            <a:r>
              <a:rPr/>
              <a:t>Wiederaufbau in rund zehn Tagen, Schaden mehrere hundert Mio. USD</a:t>
            </a:r>
          </a:p>
        </p:txBody>
      </p:sp>
      <p:pic>
        <p:nvPicPr>
          <p:cNvPr descr="assets/maersk-ghana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Adaptivität: Chaos Engineering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Netflix „Chaos Monkey“ (ab 2011): fährt in Produktion zufällig Instanzen herunter</a:t>
            </a:r>
          </a:p>
          <a:p>
            <a:pPr lvl="0"/>
            <a:r>
              <a:rPr/>
              <a:t>Vorgehen: Hypothese → Experiment → Beobachten → Lernen</a:t>
            </a:r>
          </a:p>
          <a:p>
            <a:pPr lvl="0"/>
            <a:r>
              <a:rPr/>
              <a:t>Blast Radius klein halten, Abbruchkriterien festlegen</a:t>
            </a:r>
          </a:p>
          <a:p>
            <a:pPr lvl="0"/>
            <a:r>
              <a:rPr b="1"/>
              <a:t>Game Days</a:t>
            </a:r>
            <a:r>
              <a:rPr/>
              <a:t>: geplante Ausfallübungen mit dem ganzen Team</a:t>
            </a:r>
          </a:p>
        </p:txBody>
      </p:sp>
      <p:pic>
        <p:nvPicPr>
          <p:cNvPr descr="assets/chaos-aff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Prävention nicht reicht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Zero-Days, Lieferketten, menschliche Fehler</a:t>
            </a:r>
          </a:p>
          <a:p>
            <a:pPr lvl="0"/>
            <a:r>
              <a:rPr/>
              <a:t>100 % Prävention gibt es nicht.</a:t>
            </a:r>
          </a:p>
          <a:p>
            <a:pPr lvl="0"/>
            <a:r>
              <a:rPr b="1"/>
              <a:t>Resilienz ist die letzte Verteidigungslinie.</a:t>
            </a:r>
          </a:p>
          <a:p>
            <a:pPr lvl="0" indent="0" marL="0">
              <a:buNone/>
            </a:pPr>
            <a:r>
              <a:rPr/>
              <a:t>„Sicherheit schützt – Resilienz überlebt.“</a:t>
            </a:r>
          </a:p>
        </p:txBody>
      </p:sp>
      <p:pic>
        <p:nvPicPr>
          <p:cNvPr descr="assets/prevent-prepare-respond-recov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steht im Gesetz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Standards &amp; Frameworks</a:t>
            </a:r>
          </a:p>
          <a:p>
            <a:pPr lvl="0"/>
            <a:r>
              <a:rPr/>
              <a:t>NIST SP 800-160 Vol. 2 Rev. 1 · ISO/IEC 27031:2025 · BSI-Standard 200-4 · ENISA-Leitfäden</a:t>
            </a:r>
          </a:p>
          <a:p>
            <a:pPr lvl="0" indent="0" marL="0">
              <a:buNone/>
            </a:pPr>
            <a:r>
              <a:rPr b="1"/>
              <a:t>EU-Regulierung</a:t>
            </a:r>
          </a:p>
          <a:p>
            <a:pPr lvl="0"/>
            <a:r>
              <a:rPr/>
              <a:t>NIS2 – Pflichten und Haftung der Leitung</a:t>
            </a:r>
          </a:p>
          <a:p>
            <a:pPr lvl="0"/>
            <a:r>
              <a:rPr/>
              <a:t>DORA – </a:t>
            </a:r>
            <a:r>
              <a:rPr i="1"/>
              <a:t>Digital Operational </a:t>
            </a:r>
            <a:r>
              <a:rPr b="1" i="1"/>
              <a:t>Resilience</a:t>
            </a:r>
            <a:r>
              <a:rPr i="1"/>
              <a:t> Act</a:t>
            </a:r>
            <a:r>
              <a:rPr/>
              <a:t> (seit Januar 2025)</a:t>
            </a:r>
          </a:p>
          <a:p>
            <a:pPr lvl="0"/>
            <a:r>
              <a:rPr/>
              <a:t>CER-Richtlinie – </a:t>
            </a:r>
            <a:r>
              <a:rPr i="1"/>
              <a:t>Critical Entities </a:t>
            </a:r>
            <a:r>
              <a:rPr b="1" i="1"/>
              <a:t>Resilience</a:t>
            </a:r>
          </a:p>
          <a:p>
            <a:pPr lvl="0"/>
            <a:r>
              <a:rPr/>
              <a:t>Cyber </a:t>
            </a:r>
            <a:r>
              <a:rPr b="1"/>
              <a:t>Resilience</a:t>
            </a:r>
            <a:r>
              <a:rPr/>
              <a:t> Act – Produkte mit digitalen Elementen</a:t>
            </a:r>
          </a:p>
        </p:txBody>
      </p:sp>
      <p:pic>
        <p:nvPicPr>
          <p:cNvPr descr="assets/standards-landkart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Relevanz für Cyber Security Management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ist ein Management- und Architekturthema.</a:t>
            </a:r>
          </a:p>
          <a:p>
            <a:pPr lvl="0"/>
            <a:r>
              <a:rPr/>
              <a:t>Standards liefern das Vorgehen, Regulierung macht Resilienz zur Leitungsaufgabe.</a:t>
            </a:r>
          </a:p>
          <a:p>
            <a:pPr lvl="0"/>
            <a:r>
              <a:rPr/>
              <a:t>Verbindung zu Incident Response, BCM und IT Service Continuity Management.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Fallstudie: Ransomware in der Verwaltung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Anhalt-Bitterfeld (2021):</a:t>
            </a:r>
            <a:r>
              <a:rPr/>
              <a:t> erster Cyber-Katastrophenfall Deutschlands, Bürgerdienste monatelang gestört</a:t>
            </a:r>
          </a:p>
          <a:p>
            <a:pPr lvl="0"/>
            <a:r>
              <a:rPr b="1"/>
              <a:t>Südwestfalen-IT (2023):</a:t>
            </a:r>
            <a:r>
              <a:rPr/>
              <a:t> ein kommunaler IT-Dienstleister, rund 70 Kommunen betroffen – Konzentrationsrisiko</a:t>
            </a:r>
          </a:p>
          <a:p>
            <a:pPr lvl="0"/>
            <a:r>
              <a:rPr/>
              <a:t>Entscheidend: offline verifizierte Backups, priorisierter Wiederanlauf nach BCM-Plan, Kommunikation</a:t>
            </a:r>
          </a:p>
          <a:p>
            <a:pPr lvl="0" indent="0" marL="0">
              <a:buNone/>
            </a:pPr>
            <a:r>
              <a:rPr b="1"/>
              <a:t>Frage:</a:t>
            </a:r>
            <a:r>
              <a:rPr/>
              <a:t> Welche Maßnahmen beschleunigen die Wiederherstellung?</a:t>
            </a:r>
          </a:p>
        </p:txBody>
      </p:sp>
      <p:pic>
        <p:nvPicPr>
          <p:cNvPr descr="assets/rathaus-offlin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Fallstudie: DDoS auf einen Online-Service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Mirai / Dyn (Oktober 2016):</a:t>
            </a:r>
            <a:r>
              <a:rPr/>
              <a:t> Botnetz aus IoT-Geräten (Kameras, Router) legt den DNS-Anbieter Dyn lahm – große Plattformen nicht erreichbar</a:t>
            </a:r>
          </a:p>
          <a:p>
            <a:pPr lvl="0"/>
            <a:r>
              <a:rPr/>
              <a:t>Maßnahmen: Anycast, CDN, WAF, elastische Kapazität</a:t>
            </a:r>
          </a:p>
          <a:p>
            <a:pPr lvl="0"/>
            <a:r>
              <a:rPr/>
              <a:t>DNS bei mehreren Anbietern = Diversität</a:t>
            </a:r>
          </a:p>
          <a:p>
            <a:pPr lvl="0"/>
            <a:r>
              <a:rPr/>
              <a:t>Transparente Statuskommunikation</a:t>
            </a:r>
          </a:p>
        </p:txBody>
      </p:sp>
      <p:pic>
        <p:nvPicPr>
          <p:cNvPr descr="assets/ddos-iot-botnetz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Safety oder Security?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Gruppenaufgabe mit Szenarien: Cloud-Gaming, Krankenhaus-IT, Smart Home, Auto, Banking-App.</a:t>
            </a:r>
          </a:p>
          <a:p>
            <a:pPr lvl="0" indent="-457200" marL="457200">
              <a:buAutoNum type="arabicPeriod"/>
            </a:pPr>
            <a:r>
              <a:rPr/>
              <a:t>Risiken identifizieren</a:t>
            </a:r>
          </a:p>
          <a:p>
            <a:pPr lvl="0" indent="-457200" marL="457200">
              <a:buAutoNum type="arabicPeriod"/>
            </a:pPr>
            <a:r>
              <a:rPr/>
              <a:t>Safety vs. Security zuordnen</a:t>
            </a:r>
          </a:p>
          <a:p>
            <a:pPr lvl="0" indent="-457200" marL="457200">
              <a:buAutoNum type="arabicPeriod"/>
            </a:pPr>
            <a:r>
              <a:rPr/>
              <a:t>Resilienzmaßnahmen vorschlagen</a:t>
            </a:r>
          </a:p>
          <a:p>
            <a:pPr lvl="0" indent="0" marL="0">
              <a:buNone/>
            </a:pPr>
            <a:r>
              <a:rPr/>
              <a:t>5-Minuten-Kurzpräsentation pro Gruppe.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Kernpunkte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„Sicherheit schützt – Resilienz überlebt.“</a:t>
            </a:r>
            <a:r>
              <a:rPr/>
              <a:t> Prävention ist notwendig, aber nicht hinreichend.</a:t>
            </a:r>
          </a:p>
          <a:p>
            <a:pPr lvl="0"/>
            <a:r>
              <a:rPr/>
              <a:t>Safety und Security adressieren unterschiedliche Ursachen – Resilienz integriert beide.</a:t>
            </a:r>
          </a:p>
          <a:p>
            <a:pPr lvl="0"/>
            <a:r>
              <a:rPr b="1"/>
              <a:t>Design for Failure:</a:t>
            </a:r>
            <a:r>
              <a:rPr/>
              <a:t> Redundanz, Diversität, Wiederherstellbarkeit, Adaptivität.</a:t>
            </a:r>
          </a:p>
          <a:p>
            <a:pPr lvl="0"/>
            <a:r>
              <a:rPr/>
              <a:t>Resilienz braucht Technik, Prozesse und Menschen – und lebt von Übung und Lernen.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Ausblick &amp; Hausaufgabe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Nächste Sitzung:</a:t>
            </a:r>
            <a:r>
              <a:rPr/>
              <a:t> Modelle und Messbarkeit der Resilienz (RTO/RPO, MTTR, SLOs).</a:t>
            </a:r>
          </a:p>
          <a:p>
            <a:pPr lvl="0" indent="0" marL="0">
              <a:buNone/>
            </a:pPr>
            <a:r>
              <a:rPr b="1"/>
              <a:t>Hausaufgabe:</a:t>
            </a:r>
            <a:r>
              <a:rPr/>
              <a:t> Ein Beispiel recherchieren, das sich nach einer Störung besonders schnell erholte.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Kapitel zum Termin</a:t>
            </a:r>
            <a:r>
              <a:rPr/>
              <a:t> · </a:t>
            </a:r>
            <a:r>
              <a:rPr>
                <a:hlinkClick r:id="rId4"/>
              </a:rPr>
              <a:t>Glossar</a:t>
            </a:r>
            <a:r>
              <a:rPr/>
              <a:t> · </a:t>
            </a:r>
            <a:r>
              <a:rPr>
                <a:hlinkClick r:id="rId5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Resilienz</dc:title>
  <dc:creator>Prof. Dr. Dirk Loomans</dc:creator>
  <cp:keywords/>
  <dcterms:created xsi:type="dcterms:W3CDTF">2026-10-04T17:57:44Z</dcterms:created>
  <dcterms:modified xsi:type="dcterms:W3CDTF">2026-10-04T17:57:44Z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1</vt:lpwstr>
  </property>
  <property fmtid="{D5CDD505-2E9C-101B-9397-08002B2CF9AE}" pid="14" name="toc-title">
    <vt:lpwstr>Inhaltsverzeichnis</vt:lpwstr>
  </property>
</Properties>
</file>