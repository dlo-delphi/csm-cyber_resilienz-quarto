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Herausforderungen ansprechen: Alarm Fatigue, Personalmangel, Tool-Fragmentierung. Antworten: SOAR, Playbooks, Risikopriorisierung,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BSIG ist seit Dezember 2025 durch das NIS-2-Umsetzungsgesetz neu gefasst; Paragraphenangaben aus dem Skript (§ 8b alt) nicht mehr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Skript-Variante: Montag 08:47 Uhr, E-Mail „Überweisungserlaubnis“ im Finanzbereich, Management will Bericht, DPO fragt nach Meldepflicht, Presse hat Gerüchte. 4–5 Personen, 20 Minuten Gruppenarbeit, 15 Minuten Plenum. Zusätzlich: Kommunikationsmodell mit Pfeilen, Eskalationszeitplan.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6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Organisatorische Resilienz II: Rollen und Verantwortlichkeiten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6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· Zielsetzung</a:t>
            </a:r>
          </a:p>
          <a:p>
            <a:pPr lvl="0"/>
            <a:r>
              <a:rPr/>
              <a:t>Vom Individuum zur Organisation</a:t>
            </a:r>
          </a:p>
          <a:p>
            <a:pPr lvl="0"/>
            <a:r>
              <a:rPr/>
              <a:t>CISO, SOC und CERT</a:t>
            </a:r>
          </a:p>
          <a:p>
            <a:pPr lvl="0"/>
            <a:r>
              <a:rPr/>
              <a:t>Weitere Schlüsselrollen in der Cyber-Organisation</a:t>
            </a:r>
          </a:p>
          <a:p>
            <a:pPr lvl="0"/>
            <a:r>
              <a:rPr/>
              <a:t>Kommunikations-, Eskalationsmodell und Konflikte</a:t>
            </a:r>
          </a:p>
          <a:p>
            <a:pPr lvl="0"/>
            <a:r>
              <a:rPr/>
              <a:t>Best Practices &amp; Standards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Organisationale Resilienz in Aktion</a:t>
            </a:r>
          </a:p>
          <a:p>
            <a:pPr lvl="0"/>
            <a:r>
              <a:rPr/>
              <a:t>Kommunikation als Schlüsselfaktor der Resilienz</a:t>
            </a:r>
          </a:p>
          <a:p>
            <a:pPr lvl="0"/>
            <a:r>
              <a:rPr/>
              <a:t>Unterschied zwischen Struktur und Verhalten</a:t>
            </a:r>
          </a:p>
          <a:p>
            <a:pPr lvl="0"/>
            <a:r>
              <a:rPr/>
              <a:t>Bedeutung von Rollenverständnis und Eskalationslogik</a:t>
            </a:r>
          </a:p>
          <a:p>
            <a:pPr lvl="0"/>
            <a:r>
              <a:rPr/>
              <a:t>„Resilienz ist Teamarbeit – aber nur, wenn das Team dieselbe Sprache spricht.“</a:t>
            </a:r>
          </a:p>
          <a:p>
            <a:pPr lvl="0"/>
            <a:r>
              <a:rPr/>
              <a:t>Fallbeispiel: Ransomware – Lehren aus der Praxis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Zielsetzung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zentralen Rollen der Cyber-Resilienz verstehen (CISO, SOC, CERT, DPO, BCM, IT Ops, Management)</a:t>
            </a:r>
          </a:p>
          <a:p>
            <a:pPr lvl="0"/>
            <a:r>
              <a:rPr/>
              <a:t>Zusammenspiel und Eskalationslogik analysieren</a:t>
            </a:r>
          </a:p>
          <a:p>
            <a:pPr lvl="0"/>
            <a:r>
              <a:rPr/>
              <a:t>Typische Konflikte und Governance-Lösungen erkennen</a:t>
            </a:r>
          </a:p>
          <a:p>
            <a:pPr lvl="0"/>
            <a:r>
              <a:rPr/>
              <a:t>Rollenverantwortung in einer praktischen Übung anwenden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Vom Individuum zur Organisation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Warum Rollen das Rückgrat der Resilienz sind</a:t>
            </a:r>
          </a:p>
          <a:p>
            <a:pPr lvl="0"/>
            <a:r>
              <a:rPr/>
              <a:t>Technik kann reagieren – Menschen entscheiden.</a:t>
            </a:r>
          </a:p>
          <a:p>
            <a:pPr lvl="0"/>
            <a:r>
              <a:rPr/>
              <a:t>Klare Rollen verhindern Chaos und Doppelarbeit.</a:t>
            </a:r>
          </a:p>
          <a:p>
            <a:pPr lvl="0"/>
            <a:r>
              <a:rPr/>
              <a:t>Verantwortung ersetzt Schuld.</a:t>
            </a:r>
          </a:p>
          <a:p>
            <a:pPr lvl="0"/>
            <a:r>
              <a:rPr/>
              <a:t>Ohne Struktur keine Geschwindigkeit.</a:t>
            </a:r>
          </a:p>
          <a:p>
            <a:pPr lvl="0" indent="0" marL="0">
              <a:buNone/>
            </a:pPr>
            <a:r>
              <a:rPr b="1"/>
              <a:t>Beispiele:</a:t>
            </a:r>
            <a:r>
              <a:rPr/>
              <a:t> Wer schaltet Systeme ab, wenn Malware erkannt wird? Wer informiert Behörden oder Kunden? Wer genehmigt öffentliche Kommunikation?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Rolle des CISO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Position und Mandat</a:t>
            </a:r>
          </a:p>
          <a:p>
            <a:pPr lvl="0"/>
            <a:r>
              <a:rPr/>
              <a:t>Strategische Verantwortung für Informationssicherheit und Cyber-Resilienz</a:t>
            </a:r>
          </a:p>
          <a:p>
            <a:pPr lvl="0"/>
            <a:r>
              <a:rPr/>
              <a:t>Bindeglied zwischen Technik, Management und Aufsicht</a:t>
            </a:r>
          </a:p>
          <a:p>
            <a:pPr lvl="0"/>
            <a:r>
              <a:rPr/>
              <a:t>Steuerung des ISMS (ISO/IEC 27001) und Koordination von SOC / CERT</a:t>
            </a:r>
          </a:p>
          <a:p>
            <a:pPr lvl="0"/>
            <a:r>
              <a:rPr/>
              <a:t>Beratung der Geschäftsleitung zu Cyber-Risiken und Compliance (z. B. NIS-2)</a:t>
            </a:r>
          </a:p>
          <a:p>
            <a:pPr lvl="0" indent="0" marL="0">
              <a:buNone/>
            </a:pPr>
            <a:r>
              <a:rPr b="1"/>
              <a:t>Herausforderungen:</a:t>
            </a:r>
            <a:r>
              <a:rPr/>
              <a:t> fehlendes Mandat oder Ressourcen („Accountability without Authority“) · Interessenkonflikt Security vs. Business · Kommunikationslücke „Tech vs. Business“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Security Operations Center (SOC)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Zentrale Aufgaben</a:t>
            </a:r>
          </a:p>
          <a:p>
            <a:pPr lvl="0"/>
            <a:r>
              <a:rPr/>
              <a:t>24/7-Überwachung von Systemen und Netzwerken</a:t>
            </a:r>
          </a:p>
          <a:p>
            <a:pPr lvl="0"/>
            <a:r>
              <a:rPr/>
              <a:t>Erkennung und Analyse von Sicherheitsereignissen (Monitoring &amp; SIEM)</a:t>
            </a:r>
          </a:p>
          <a:p>
            <a:pPr lvl="0"/>
            <a:r>
              <a:rPr/>
              <a:t>Eskalation an Incident-Response-Team / CERT</a:t>
            </a:r>
          </a:p>
          <a:p>
            <a:pPr lvl="0"/>
            <a:r>
              <a:rPr/>
              <a:t>Dokumentation, Reporting, Threat-Intelligence-Einbindung</a:t>
            </a:r>
          </a:p>
          <a:p>
            <a:pPr lvl="0" indent="0" marL="0">
              <a:buNone/>
            </a:pPr>
            <a:r>
              <a:rPr b="1"/>
              <a:t>Organisation:</a:t>
            </a:r>
            <a:r>
              <a:rPr/>
              <a:t> Schnittstellen zu IT Operations, CISO-Office, Datenschutz, Management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– Tier 1–3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entsteht durch Funktionstrennung und Spezialisierung – nicht durch Mehrarbeit.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Aufgabe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Monitoring /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erste Alarmbewertung, Triage, Eskalation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Investigation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vertiefte Analyse, Kontext, Angriffsketten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Tier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/ Threat Hunting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Eindämmung, Forensik, proaktive Suche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Computer Emergency Response Team (CERT)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Mandat und Aufgaben</a:t>
            </a:r>
          </a:p>
          <a:p>
            <a:pPr lvl="0"/>
            <a:r>
              <a:rPr/>
              <a:t>Koordination der technischen Incident-Response-Aktivitäten</a:t>
            </a:r>
          </a:p>
          <a:p>
            <a:pPr lvl="0"/>
            <a:r>
              <a:rPr/>
              <a:t>Kommunikation mit internen Stakeholdern und externen Partnern (BSI, ENISA, Branchen-CERTs)</a:t>
            </a:r>
          </a:p>
          <a:p>
            <a:pPr lvl="0"/>
            <a:r>
              <a:rPr/>
              <a:t>Analyse, Forensik, Wiederanlaufunterstützung</a:t>
            </a:r>
          </a:p>
          <a:p>
            <a:pPr lvl="0"/>
            <a:r>
              <a:rPr/>
              <a:t>Lessons-Learned-Dokumentation und Nachbereitung</a:t>
            </a:r>
          </a:p>
          <a:p>
            <a:pPr lvl="0" indent="0" marL="0">
              <a:buNone/>
            </a:pPr>
            <a:r>
              <a:rPr b="1"/>
              <a:t>Typen:</a:t>
            </a:r>
            <a:r>
              <a:rPr/>
              <a:t> Internal CERT (Unternehmen, Konzern) · National CERT (z. B. CERT-Bund) · Sectoral CERT (Finanz, Energie usw.)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Zusammenspiel von CISO – SOC – CERT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Funktionale Trennung = Resilienz durch Arbeitsteilung</a:t>
            </a:r>
          </a:p>
          <a:p>
            <a:pPr lvl="0"/>
            <a:r>
              <a:rPr/>
              <a:t>CISO → Richtlinien, Ressourcen, Reporting (strategisch)</a:t>
            </a:r>
          </a:p>
          <a:p>
            <a:pPr lvl="0"/>
            <a:r>
              <a:rPr/>
              <a:t>SOC → Erkennen, Bewerten, Eskalieren (operativ)</a:t>
            </a:r>
          </a:p>
          <a:p>
            <a:pPr lvl="0"/>
            <a:r>
              <a:rPr/>
              <a:t>CERT → Koordinieren, Reagieren, Lernen (taktisch)</a:t>
            </a:r>
          </a:p>
          <a:p>
            <a:pPr lvl="0" indent="0" marL="0">
              <a:buNone/>
            </a:pPr>
            <a:r>
              <a:rPr b="1"/>
              <a:t>Zentrale Erfolgsfaktoren:</a:t>
            </a:r>
            <a:r>
              <a:rPr/>
              <a:t> definierte Eskalationsschwellen · gemeinsames Lagebild (Single Source of Truth) · regelmäßige Lage- und Lessons-Learned-Meetings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Schlüsselrollen in der Cyber-Organisation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kein Produkt einzelner Spezialisten, sondern kollektive Verantwortlichkeit.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Kernaufgaben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Bezug zur Resilienz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Datenschutz, DSGVO-Meldungen, Schnittstelle zur Aufsicht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schützt Vertrauen &amp; Reputation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 Manager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Aufrechterhaltung kritischer Geschäftsprozesse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&amp; Priorisierung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Operations Lead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Betrieb, Infrastruktur, Wiederherstellung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Umsetzung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Manager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Risikoanalyse, Bewertung,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Früherkennung &amp; Priorisierung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Board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Ressourcen, Risikoakzeptanz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strategische Steuerung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Kommunikations- und Eskalationsmodell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Single Source of Truth:</a:t>
            </a:r>
            <a:r>
              <a:rPr/>
              <a:t> ein gemeinsames Lagebild</a:t>
            </a:r>
          </a:p>
          <a:p>
            <a:pPr lvl="0"/>
            <a:r>
              <a:rPr b="1"/>
              <a:t>Time to Inform:</a:t>
            </a:r>
            <a:r>
              <a:rPr/>
              <a:t> Informationspflicht in definierten Fristen</a:t>
            </a:r>
          </a:p>
          <a:p>
            <a:pPr lvl="0"/>
            <a:r>
              <a:rPr b="1"/>
              <a:t>Bidirektionalität:</a:t>
            </a:r>
            <a:r>
              <a:rPr/>
              <a:t> Rückmeldungen fließen ins Lagebild</a:t>
            </a:r>
          </a:p>
          <a:p>
            <a:pPr lvl="0"/>
            <a:r>
              <a:rPr b="1"/>
              <a:t>Vorab definierte Kanäle</a:t>
            </a:r>
            <a:r>
              <a:rPr/>
              <a:t> (z. B. Teams-Crisis-Channel) und Offline-Fallback</a:t>
            </a:r>
          </a:p>
        </p:txBody>
      </p:sp>
      <p:pic>
        <p:nvPicPr>
          <p:cNvPr descr="../../assets/eskalations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70100"/>
            <a:ext cx="5613400" cy="377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Meldepflichten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Nicht jeder Incident ist meldepflichtig – aber jeder muss dokumentiert werden.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Kategorie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Meldepflicht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Ansprechpartner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technischer Sicherheitsvorfall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CERT, CISO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datenschutzrelevanter Vorfall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ja, 72 h (Art. 33 DSGVO)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kritische Infrastruktur / NIS-2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 (NIS-2, BSIG)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Betriebsunterbrechung &gt; x 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BCM-relevant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BCM-Manager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Kooperation und Grenzen der Rollen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Typische Konfliktlinien und Lösungsprinzipien: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Konflikt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Ursache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Resiliente Lösung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 vs. CIO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vs. Verfügbarkeit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klare Zieltrennung, gemeinsame KPIs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SOC vs. IT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„Wer darf eingreifen?“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Runbooks &amp; Eskalationskriterien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 vs. 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Kommunikationsfreigabe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vorab definierte Kommunikationsmatrix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 vs. 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Prioritätenunterschiede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Business-Impact-Analysen abstimmen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 vs. Incident 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Datenschutzmeldungen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Abstimmung mit Legal-Team &amp; CISO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Governance-Matrix (Beispiel)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Verantwortung ersetzt Diskussion.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Entscheidungsfeld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Primär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Stellvertretend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Isolierung eines Systems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Externe Kommunikation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CISO, DPO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Behördenmeldung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Wiederanlaufentscheidung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Lessons Learned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alle Bereiche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&amp; Standards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Rahmenwerke und Leitlinien für Rollenmodelle in der Cyber-Organisation: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/ Leitlinie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Relevanz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Rollen und Verantwortlichkeiten im ISMS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Incident-Response-Prozesse und Eskalationspfade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 22320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Krisenmanagement und Führungsstrukturen in Notlagen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 22316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Grundprinzipien organisationaler Resilienz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 Continuity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Good Practice Guide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SOC/CERT-Zusammenarbeit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NIS-2-Richtlinie (EU) 2022/2555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Verantwortlichkeiten und Meldepflichten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Wer macht was im Incident?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Ein Angriff über Phishing führt zu kompromittierten Admin-Credentials; verdächtige Logins werden im SOC erkannt.</a:t>
            </a:r>
          </a:p>
          <a:p>
            <a:pPr lvl="0" indent="-457200" marL="457200">
              <a:buAutoNum type="arabicPeriod"/>
            </a:pPr>
            <a:r>
              <a:rPr/>
              <a:t>Wer wird zuerst informiert?</a:t>
            </a:r>
          </a:p>
          <a:p>
            <a:pPr lvl="0" indent="-457200" marL="457200">
              <a:buAutoNum type="arabicPeriod"/>
            </a:pPr>
            <a:r>
              <a:rPr/>
              <a:t>Wer entscheidet über Systemtrennung?</a:t>
            </a:r>
          </a:p>
          <a:p>
            <a:pPr lvl="0" indent="-457200" marL="457200">
              <a:buAutoNum type="arabicPeriod"/>
            </a:pPr>
            <a:r>
              <a:rPr/>
              <a:t>Wer kommuniziert intern / extern?</a:t>
            </a:r>
          </a:p>
          <a:p>
            <a:pPr lvl="0" indent="-457200" marL="457200">
              <a:buAutoNum type="arabicPeriod"/>
            </a:pPr>
            <a:r>
              <a:rPr/>
              <a:t>Wer bewertet rechtliche Meldepflichten?</a:t>
            </a:r>
          </a:p>
          <a:p>
            <a:pPr lvl="0" indent="-457200" marL="457200">
              <a:buAutoNum type="arabicPeriod"/>
            </a:pPr>
            <a:r>
              <a:rPr/>
              <a:t>Wer dokumentiert und berichtet an das Management?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Rollen klar abgrenzen → Kollisionspunkte erkennen → gemeinsame Eskalationslogik entwickeln.</a:t>
            </a:r>
          </a:p>
          <a:p>
            <a:pPr lvl="0" indent="0" marL="0">
              <a:buNone/>
            </a:pPr>
            <a:r>
              <a:rPr/>
              <a:t>💡 Klarheit schafft Geschwindigkeit – und Geschwindigkeit schafft Resilienz.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Rollen sind das organisatorische Immunsystem der Cyber-Resilienz.</a:t>
            </a:r>
          </a:p>
          <a:p>
            <a:pPr lvl="0"/>
            <a:r>
              <a:rPr/>
              <a:t>CISO, SOC und CERT bilden das Kern-Trio – unterstützt von DPO, BCM, IT Ops und Management.</a:t>
            </a:r>
          </a:p>
          <a:p>
            <a:pPr lvl="0"/>
            <a:r>
              <a:rPr/>
              <a:t>Klare Zuständigkeiten, getestete Eskalationswege und abgestimmte Kommunikation = Resilienz in Aktion.</a:t>
            </a:r>
          </a:p>
          <a:p>
            <a:pPr lvl="0"/>
            <a:r>
              <a:rPr/>
              <a:t>Standards und Regulatorik (ISO, ENISA, NIS-2, BSI) bilden den normativen Rahmen.</a:t>
            </a:r>
          </a:p>
          <a:p>
            <a:pPr lvl="0" indent="0" marL="0">
              <a:buNone/>
            </a:pPr>
            <a:r>
              <a:rPr b="1"/>
              <a:t>Ausblick Sitzung 7:</a:t>
            </a:r>
            <a:r>
              <a:rPr/>
              <a:t> Technische Resilienzmaßnahmen I – Backup, Disaster Recovery, Notfalltests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Organisatorische Resilienz II: Rollen und Verantwortlichkeiten</dc:title>
  <dc:creator>Prof. Dr. Dirk Loomans</dc:creator>
  <cp:keywords/>
  <dcterms:created xsi:type="dcterms:W3CDTF">2026-09-29T09:05:38Z</dcterms:created>
  <dcterms:modified xsi:type="dcterms:W3CDTF">2026-09-29T09:05:38Z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6</vt:lpwstr>
  </property>
  <property fmtid="{D5CDD505-2E9C-101B-9397-08002B2CF9AE}" pid="14" name="toc-title">
    <vt:lpwstr>Inhaltsverzeichnis</vt:lpwstr>
  </property>
</Properties>
</file>